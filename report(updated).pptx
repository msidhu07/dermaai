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772920">
              <a:lnSpc>
                <a:spcPts val="1075"/>
              </a:lnSpc>
            </a:pPr>
            <a:fld id="{81D60167-4931-47E6-BA6A-407CBD079E47}" type="slidenum">
              <a:rPr sz="1000" spc="-20" dirty="0">
                <a:latin typeface="Calibri"/>
                <a:cs typeface="Calibri"/>
              </a:rPr>
              <a:t>‹#›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772920">
              <a:lnSpc>
                <a:spcPts val="1075"/>
              </a:lnSpc>
            </a:pPr>
            <a:fld id="{81D60167-4931-47E6-BA6A-407CBD079E47}" type="slidenum">
              <a:rPr sz="1000" spc="-20" dirty="0">
                <a:latin typeface="Calibri"/>
                <a:cs typeface="Calibri"/>
              </a:rPr>
              <a:t>‹#›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772920">
              <a:lnSpc>
                <a:spcPts val="1075"/>
              </a:lnSpc>
            </a:pPr>
            <a:fld id="{81D60167-4931-47E6-BA6A-407CBD079E47}" type="slidenum">
              <a:rPr sz="1000" spc="-20" dirty="0">
                <a:latin typeface="Calibri"/>
                <a:cs typeface="Calibri"/>
              </a:rPr>
              <a:t>‹#›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772920">
              <a:lnSpc>
                <a:spcPts val="1075"/>
              </a:lnSpc>
            </a:pPr>
            <a:fld id="{81D60167-4931-47E6-BA6A-407CBD079E47}" type="slidenum">
              <a:rPr sz="1000" spc="-20" dirty="0">
                <a:latin typeface="Calibri"/>
                <a:cs typeface="Calibri"/>
              </a:rPr>
              <a:t>‹#›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772920">
              <a:lnSpc>
                <a:spcPts val="1075"/>
              </a:lnSpc>
            </a:pPr>
            <a:fld id="{81D60167-4931-47E6-BA6A-407CBD079E47}" type="slidenum">
              <a:rPr sz="1000" spc="-20" dirty="0">
                <a:latin typeface="Calibri"/>
                <a:cs typeface="Calibri"/>
              </a:rPr>
              <a:t>‹#›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2836" y="579119"/>
            <a:ext cx="6842759" cy="6350"/>
          </a:xfrm>
          <a:custGeom>
            <a:avLst/>
            <a:gdLst/>
            <a:ahLst/>
            <a:cxnLst/>
            <a:rect l="l" t="t" r="r" b="b"/>
            <a:pathLst>
              <a:path w="6842759" h="6350">
                <a:moveTo>
                  <a:pt x="6842760" y="6096"/>
                </a:moveTo>
                <a:lnTo>
                  <a:pt x="0" y="6096"/>
                </a:lnTo>
                <a:lnTo>
                  <a:pt x="0" y="0"/>
                </a:lnTo>
                <a:lnTo>
                  <a:pt x="6842760" y="0"/>
                </a:lnTo>
                <a:lnTo>
                  <a:pt x="6842760" y="6096"/>
                </a:lnTo>
                <a:close/>
              </a:path>
            </a:pathLst>
          </a:custGeom>
          <a:solidFill>
            <a:srgbClr val="4470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6851" y="9219792"/>
            <a:ext cx="3679190" cy="321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772920">
              <a:lnSpc>
                <a:spcPts val="1075"/>
              </a:lnSpc>
            </a:pPr>
            <a:fld id="{81D60167-4931-47E6-BA6A-407CBD079E47}" type="slidenum">
              <a:rPr sz="1000" spc="-20" dirty="0">
                <a:latin typeface="Calibri"/>
                <a:cs typeface="Calibri"/>
              </a:rPr>
              <a:t>‹#›</a:t>
            </a:fld>
            <a:endParaRPr sz="100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7B7762-A6E7-BEE3-D617-E04E29025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3152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60B60A7-7576-3349-4579-FEB1DCCC6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2400"/>
            <a:ext cx="7086600" cy="960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8C5C2D0-9ABF-C190-897B-F8C06333E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2399" y="-14514"/>
            <a:ext cx="7620000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2920">
              <a:lnSpc>
                <a:spcPts val="1075"/>
              </a:lnSpc>
            </a:pPr>
            <a:r>
              <a:rPr sz="1000" spc="-20" dirty="0">
                <a:latin typeface="Calibri"/>
                <a:cs typeface="Calibri"/>
              </a:rPr>
              <a:t>ii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867E36-8C65-0E78-F49D-2458F2F53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"/>
            <a:ext cx="7772400" cy="990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2920">
              <a:lnSpc>
                <a:spcPts val="1075"/>
              </a:lnSpc>
            </a:pPr>
            <a:r>
              <a:rPr sz="1000" spc="-20" dirty="0">
                <a:latin typeface="Calibri"/>
                <a:cs typeface="Calibri"/>
              </a:rPr>
              <a:t>iii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37336" y="1057632"/>
            <a:ext cx="5732780" cy="5788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27305" algn="ctr">
              <a:lnSpc>
                <a:spcPct val="100000"/>
              </a:lnSpc>
              <a:spcBef>
                <a:spcPts val="130"/>
              </a:spcBef>
            </a:pPr>
            <a:r>
              <a:rPr sz="1850" spc="-10" dirty="0">
                <a:latin typeface="Times New Roman"/>
                <a:cs typeface="Times New Roman"/>
              </a:rPr>
              <a:t>Abstract</a:t>
            </a:r>
            <a:endParaRPr sz="185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7400"/>
              </a:lnSpc>
              <a:spcBef>
                <a:spcPts val="220"/>
              </a:spcBef>
            </a:pPr>
            <a:r>
              <a:rPr sz="1100" dirty="0">
                <a:latin typeface="Times New Roman"/>
                <a:cs typeface="Times New Roman"/>
              </a:rPr>
              <a:t>Dermatologic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top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worldwide,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they </a:t>
            </a:r>
            <a:r>
              <a:rPr sz="1100" dirty="0">
                <a:latin typeface="Times New Roman"/>
                <a:cs typeface="Times New Roman"/>
              </a:rPr>
              <a:t>affect</a:t>
            </a:r>
            <a:r>
              <a:rPr sz="1100" spc="4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numbers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age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groups.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13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complications,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reducing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costs,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outcomes.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cases,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particular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rural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settings. 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solution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place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initial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turn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 </a:t>
            </a:r>
            <a:r>
              <a:rPr sz="1100" dirty="0">
                <a:latin typeface="Times New Roman"/>
                <a:cs typeface="Times New Roman"/>
              </a:rPr>
              <a:t>help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professionals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signs.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67945" algn="just">
              <a:lnSpc>
                <a:spcPct val="1484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proposed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particular,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Neural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(CNNs)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datasets.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organizes </a:t>
            </a:r>
            <a:r>
              <a:rPr sz="1100" dirty="0">
                <a:latin typeface="Times New Roman"/>
                <a:cs typeface="Times New Roman"/>
              </a:rPr>
              <a:t>uploaded</a:t>
            </a:r>
            <a:r>
              <a:rPr sz="1100" spc="16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16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multiclass</a:t>
            </a:r>
            <a:r>
              <a:rPr sz="1100" spc="17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diagnostics,</a:t>
            </a:r>
            <a:r>
              <a:rPr sz="1100" spc="16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17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eczema,</a:t>
            </a:r>
            <a:r>
              <a:rPr sz="1100" spc="26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psoriasis,</a:t>
            </a:r>
            <a:r>
              <a:rPr sz="1100" spc="175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acne, </a:t>
            </a:r>
            <a:r>
              <a:rPr sz="1100" dirty="0">
                <a:latin typeface="Times New Roman"/>
                <a:cs typeface="Times New Roman"/>
              </a:rPr>
              <a:t>melanoma,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lesions.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confidence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explanations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14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Grad-Cam</a:t>
            </a:r>
            <a:r>
              <a:rPr sz="1100" spc="2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heatmaps</a:t>
            </a:r>
            <a:r>
              <a:rPr sz="1100" spc="114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alongside</a:t>
            </a:r>
            <a:r>
              <a:rPr sz="1100" spc="2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commendations</a:t>
            </a:r>
            <a:r>
              <a:rPr sz="1100" spc="114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follow-</a:t>
            </a:r>
            <a:r>
              <a:rPr sz="1100" spc="-25" dirty="0">
                <a:latin typeface="Times New Roman"/>
                <a:cs typeface="Times New Roman"/>
              </a:rPr>
              <a:t>up,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whether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50"/>
              </a:spcBef>
            </a:pPr>
            <a:r>
              <a:rPr sz="1100" dirty="0">
                <a:latin typeface="Times New Roman"/>
                <a:cs typeface="Times New Roman"/>
              </a:rPr>
              <a:t>professional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consultation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warranted.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730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friendly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scale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diagnosis.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experiments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terms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promise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we </a:t>
            </a:r>
            <a:r>
              <a:rPr sz="1100" dirty="0">
                <a:latin typeface="Times New Roman"/>
                <a:cs typeface="Times New Roman"/>
              </a:rPr>
              <a:t>present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effective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detection,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turn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empowers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seek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care..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2920">
              <a:lnSpc>
                <a:spcPts val="1075"/>
              </a:lnSpc>
            </a:pPr>
            <a:r>
              <a:rPr sz="1000" spc="-20" dirty="0">
                <a:latin typeface="Calibri"/>
                <a:cs typeface="Calibri"/>
              </a:rPr>
              <a:t>iv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724403" y="943254"/>
            <a:ext cx="230505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latin typeface="Times New Roman"/>
                <a:cs typeface="Times New Roman"/>
              </a:rPr>
              <a:t>TABLE OF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CONTENTS</a:t>
            </a:r>
            <a:endParaRPr sz="165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8126" y="1235963"/>
          <a:ext cx="5789295" cy="776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Sl.</a:t>
                      </a:r>
                      <a:r>
                        <a:rPr sz="11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Declaration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6002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6002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Acknowledgement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14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14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Abstract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iii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10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Figures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iv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10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Tables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Abbreviations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14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vii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14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Introduction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1874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Statement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1.2.1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justification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solution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Objectives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Overview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Report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10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Review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1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1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Selection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Phases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100" b="1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design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Acquisition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curation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preparation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833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pipeline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4.3.1</a:t>
                      </a:r>
                      <a:r>
                        <a:rPr sz="11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normalization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resizing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4.3.2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artifact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removal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2920">
              <a:lnSpc>
                <a:spcPts val="1075"/>
              </a:lnSpc>
            </a:pPr>
            <a:r>
              <a:rPr sz="1000" spc="-20" dirty="0">
                <a:latin typeface="Calibri"/>
                <a:cs typeface="Calibri"/>
              </a:rPr>
              <a:t>v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08125" y="691895"/>
          <a:ext cx="5790565" cy="3465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sz="110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5.1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113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5.1.1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initial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training.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113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5.2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5.3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Robusteness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5.4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5.5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2415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Applications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tele-dermatology</a:t>
                      </a:r>
                      <a:r>
                        <a:rPr sz="11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remote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healthcare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health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sz="11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descision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11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systems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8125" y="4355591"/>
          <a:ext cx="5790565" cy="4566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Hospital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diagnostic</a:t>
                      </a:r>
                      <a:r>
                        <a:rPr sz="11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centers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medical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education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early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screening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diagnostic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services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110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scope</a:t>
                      </a:r>
                      <a:r>
                        <a:rPr sz="110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b="1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discussion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7.1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scope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30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7.1.1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platfroms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55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7.1.2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diversity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7.1.3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80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7.1.4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multi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55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7.1.5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explainable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ethical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AI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55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7.1.6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care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devices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55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7.1.7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1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regulatory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approval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5190" indent="-215265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Symbol"/>
                        <a:buChar char=""/>
                        <a:tabLst>
                          <a:tab pos="885190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7.1.8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1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electronic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record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7.2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Discussion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Front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end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8.1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Front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end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2920">
              <a:lnSpc>
                <a:spcPts val="1075"/>
              </a:lnSpc>
            </a:pPr>
            <a:r>
              <a:rPr sz="1000" spc="-20" dirty="0">
                <a:latin typeface="Calibri"/>
                <a:cs typeface="Calibri"/>
              </a:rPr>
              <a:t>vi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08125" y="691895"/>
          <a:ext cx="5790565" cy="2871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8.2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end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11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9.1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Summary</a:t>
                      </a:r>
                      <a:r>
                        <a:rPr sz="11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contribution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Heat</a:t>
                      </a:r>
                      <a:r>
                        <a:rPr sz="110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10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graphs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Conclusion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>
                      <a:solidFill>
                        <a:srgbClr val="F4F4F4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670">
                        <a:lnSpc>
                          <a:spcPct val="1000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References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93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Appendices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7620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Screenshots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put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762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2920">
              <a:lnSpc>
                <a:spcPts val="1075"/>
              </a:lnSpc>
            </a:pPr>
            <a:r>
              <a:rPr sz="1000" spc="-20" dirty="0">
                <a:latin typeface="Calibri"/>
                <a:cs typeface="Calibri"/>
              </a:rPr>
              <a:t>vii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154172" y="973811"/>
            <a:ext cx="142303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dirty="0">
                <a:latin typeface="Times New Roman"/>
                <a:cs typeface="Times New Roman"/>
              </a:rPr>
              <a:t>List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Figures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8125" y="1296923"/>
          <a:ext cx="5793740" cy="4916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Fig.</a:t>
                      </a:r>
                      <a:r>
                        <a:rPr sz="11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1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1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1.2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1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4.1.1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acquiscition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1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4.2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sz="11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intelligence</a:t>
                      </a:r>
                      <a:r>
                        <a:rPr sz="11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process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1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4.3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1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pipeline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1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4.3.2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Artifact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removal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1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5.1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A.1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opening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derma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AI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A.2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page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A.3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don’t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account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up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A.4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finishing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start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A.5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here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upload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photo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skin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disease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A.6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30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uploading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tool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disease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A.7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6350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clicking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look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clinics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swill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hosiptals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6350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2920">
              <a:lnSpc>
                <a:spcPts val="1075"/>
              </a:lnSpc>
            </a:pPr>
            <a:r>
              <a:rPr sz="1000" spc="-20" dirty="0">
                <a:latin typeface="Calibri"/>
                <a:cs typeface="Calibri"/>
              </a:rPr>
              <a:t>viii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215132" y="1089635"/>
            <a:ext cx="133858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dirty="0">
                <a:latin typeface="Times New Roman"/>
                <a:cs typeface="Times New Roman"/>
              </a:rPr>
              <a:t>List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Tables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8125" y="1412747"/>
          <a:ext cx="5787390" cy="140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9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5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sz="11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6385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1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sz="11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5.4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sz="11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5.5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1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metrics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3175">
                      <a:solidFill>
                        <a:srgbClr val="A3A3A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9772" y="9252604"/>
            <a:ext cx="85090" cy="132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75"/>
              </a:lnSpc>
            </a:pPr>
            <a:r>
              <a:rPr sz="1000" spc="-25" dirty="0">
                <a:latin typeface="Calibri"/>
                <a:cs typeface="Calibri"/>
              </a:rPr>
              <a:t>ix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20823" y="2118360"/>
          <a:ext cx="3954779" cy="7476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Abbreviation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57150">
                      <a:solidFill>
                        <a:srgbClr val="F4F4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sz="1000" b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Form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3175">
                      <a:solidFill>
                        <a:srgbClr val="A3A3A3"/>
                      </a:solidFill>
                      <a:prstDash val="solid"/>
                    </a:lnT>
                    <a:lnB w="57150">
                      <a:solidFill>
                        <a:srgbClr val="F4F4F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AI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1938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57150">
                      <a:solidFill>
                        <a:srgbClr val="F4F4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721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intelligence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1938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lnT w="57150">
                      <a:solidFill>
                        <a:srgbClr val="F4F4F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0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ML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 marR="1068070">
                        <a:lnSpc>
                          <a:spcPts val="3060"/>
                        </a:lnSpc>
                        <a:spcBef>
                          <a:spcPts val="390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DCNN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XAI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 marR="840740">
                        <a:lnSpc>
                          <a:spcPts val="3110"/>
                        </a:lnSpc>
                        <a:spcBef>
                          <a:spcPts val="23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Grad-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CAM DL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 marR="1120140">
                        <a:lnSpc>
                          <a:spcPts val="3050"/>
                        </a:lnSpc>
                        <a:spcBef>
                          <a:spcPts val="225"/>
                        </a:spcBef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ISIC PDST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TL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 marR="1198245">
                        <a:lnSpc>
                          <a:spcPct val="254000"/>
                        </a:lnSpc>
                        <a:spcBef>
                          <a:spcPts val="10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EAI DPP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 marR="814069">
                        <a:lnSpc>
                          <a:spcPts val="3070"/>
                        </a:lnSpc>
                        <a:spcBef>
                          <a:spcPts val="380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mHEALTH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IOT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 marR="1155065">
                        <a:lnSpc>
                          <a:spcPts val="3050"/>
                        </a:lnSpc>
                        <a:spcBef>
                          <a:spcPts val="10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EHR DNN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8575" marR="1046480">
                        <a:lnSpc>
                          <a:spcPts val="3040"/>
                        </a:lnSpc>
                        <a:spcBef>
                          <a:spcPts val="25"/>
                        </a:spcBef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VRAM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GPU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A3A3A3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795655" algn="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8115" marR="374650" indent="31115" algn="ctr">
                        <a:lnSpc>
                          <a:spcPct val="2545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0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networks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0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networls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Explainable</a:t>
                      </a:r>
                      <a:r>
                        <a:rPr sz="10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sz="10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intrelligence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75360" marR="292735" indent="-680085">
                        <a:lnSpc>
                          <a:spcPct val="10800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Gradient-weighted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activation mapping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830580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8910" marR="276225" indent="-142240">
                        <a:lnSpc>
                          <a:spcPct val="254000"/>
                        </a:lnSpc>
                        <a:spcBef>
                          <a:spcPts val="39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International</a:t>
                      </a:r>
                      <a:r>
                        <a:rPr sz="10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skin</a:t>
                      </a:r>
                      <a:r>
                        <a:rPr sz="10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imaging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collaboration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Preliminary</a:t>
                      </a:r>
                      <a:r>
                        <a:rPr sz="10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diagnostic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10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tool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28600" marR="437515" indent="469265">
                        <a:lnSpc>
                          <a:spcPts val="3070"/>
                        </a:lnSpc>
                        <a:spcBef>
                          <a:spcPts val="38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Explainable</a:t>
                      </a:r>
                      <a:r>
                        <a:rPr sz="10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intelligence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92480" marR="558165" indent="-407034">
                        <a:lnSpc>
                          <a:spcPts val="305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0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pipeline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health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70534" marR="625475" indent="226695">
                        <a:lnSpc>
                          <a:spcPts val="304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things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Electronic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18135" marR="502920" indent="243204">
                        <a:lnSpc>
                          <a:spcPts val="3050"/>
                        </a:lnSpc>
                        <a:spcBef>
                          <a:spcPts val="1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0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networks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sz="10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1555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Graphics</a:t>
                      </a:r>
                      <a:r>
                        <a:rPr sz="10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0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units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3175">
                      <a:solidFill>
                        <a:srgbClr val="A3A3A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119119" y="1799820"/>
            <a:ext cx="136207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spc="-10" dirty="0">
                <a:latin typeface="Times New Roman"/>
                <a:cs typeface="Times New Roman"/>
              </a:rPr>
              <a:t>Abbreviations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14420" y="389078"/>
            <a:ext cx="314452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995" y="681067"/>
            <a:ext cx="5746750" cy="8448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6355" algn="ctr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latin typeface="Times New Roman"/>
                <a:cs typeface="Times New Roman"/>
              </a:rPr>
              <a:t>CHAPTER </a:t>
            </a:r>
            <a:r>
              <a:rPr sz="1300" b="1" spc="-50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300">
              <a:latin typeface="Times New Roman"/>
              <a:cs typeface="Times New Roman"/>
            </a:endParaRPr>
          </a:p>
          <a:p>
            <a:pPr marL="42545" algn="ctr">
              <a:lnSpc>
                <a:spcPct val="100000"/>
              </a:lnSpc>
              <a:spcBef>
                <a:spcPts val="5"/>
              </a:spcBef>
            </a:pPr>
            <a:r>
              <a:rPr sz="1850" b="1" spc="-10" dirty="0">
                <a:latin typeface="Times New Roman"/>
                <a:cs typeface="Times New Roman"/>
              </a:rPr>
              <a:t>INTRODUCTION</a:t>
            </a:r>
            <a:endParaRPr sz="1850">
              <a:latin typeface="Times New Roman"/>
              <a:cs typeface="Times New Roman"/>
            </a:endParaRPr>
          </a:p>
          <a:p>
            <a:pPr marL="298450" lvl="1" indent="-28575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98450" algn="l"/>
              </a:tabLst>
            </a:pPr>
            <a:r>
              <a:rPr sz="1500" b="1" spc="-10" dirty="0">
                <a:latin typeface="Times New Roman"/>
                <a:cs typeface="Times New Roman"/>
              </a:rPr>
              <a:t>Introduction</a:t>
            </a:r>
            <a:endParaRPr sz="1500">
              <a:latin typeface="Times New Roman"/>
              <a:cs typeface="Times New Roman"/>
            </a:endParaRPr>
          </a:p>
          <a:p>
            <a:pPr marL="26034" marR="5080" indent="30480" algn="just">
              <a:lnSpc>
                <a:spcPct val="155300"/>
              </a:lnSpc>
              <a:spcBef>
                <a:spcPts val="355"/>
              </a:spcBef>
            </a:pP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disorders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constitute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commonest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worldwide,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affecting </a:t>
            </a:r>
            <a:r>
              <a:rPr sz="1100" dirty="0">
                <a:latin typeface="Times New Roman"/>
                <a:cs typeface="Times New Roman"/>
              </a:rPr>
              <a:t>millions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people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ailments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range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mild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infections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serious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malignancies.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only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help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treatment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complications. </a:t>
            </a: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specialty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especially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rural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low- </a:t>
            </a:r>
            <a:r>
              <a:rPr sz="1100" dirty="0">
                <a:latin typeface="Times New Roman"/>
                <a:cs typeface="Times New Roman"/>
              </a:rPr>
              <a:t>resource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settings.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gap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timely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results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treatment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progression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disease.</a:t>
            </a:r>
            <a:endParaRPr sz="1100">
              <a:latin typeface="Times New Roman"/>
              <a:cs typeface="Times New Roman"/>
            </a:endParaRPr>
          </a:p>
          <a:p>
            <a:pPr marL="26034" marR="8255" indent="-5080" algn="just">
              <a:lnSpc>
                <a:spcPct val="156200"/>
              </a:lnSpc>
              <a:spcBef>
                <a:spcPts val="815"/>
              </a:spcBef>
            </a:pPr>
            <a:r>
              <a:rPr sz="1100" dirty="0">
                <a:latin typeface="Times New Roman"/>
                <a:cs typeface="Times New Roman"/>
              </a:rPr>
              <a:t>Recent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inroads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(AI)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Machine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(ML)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analysis.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particular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reported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recognition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patterns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images.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analyze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detection,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differentiation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dermatologists..</a:t>
            </a:r>
            <a:endParaRPr sz="1100">
              <a:latin typeface="Times New Roman"/>
              <a:cs typeface="Times New Roman"/>
            </a:endParaRPr>
          </a:p>
          <a:p>
            <a:pPr marL="26034" marR="114300" indent="-5080">
              <a:lnSpc>
                <a:spcPct val="147300"/>
              </a:lnSpc>
              <a:spcBef>
                <a:spcPts val="875"/>
              </a:spcBef>
            </a:pP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analyzed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possible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categories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along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confidence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levels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explanations,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assist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healthcare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practitioners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decision- </a:t>
            </a:r>
            <a:r>
              <a:rPr sz="1100" dirty="0">
                <a:latin typeface="Times New Roman"/>
                <a:cs typeface="Times New Roman"/>
              </a:rPr>
              <a:t>making.This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especially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help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teledermatology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healthcare </a:t>
            </a:r>
            <a:r>
              <a:rPr sz="1100" dirty="0">
                <a:latin typeface="Times New Roman"/>
                <a:cs typeface="Times New Roman"/>
              </a:rPr>
              <a:t>centers,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specialist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availability.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rapid,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</a:t>
            </a:r>
            <a:r>
              <a:rPr sz="1100" spc="-10" dirty="0">
                <a:latin typeface="Times New Roman"/>
                <a:cs typeface="Times New Roman"/>
              </a:rPr>
              <a:t>cost,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outcomes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early </a:t>
            </a:r>
            <a:r>
              <a:rPr sz="1100" dirty="0">
                <a:latin typeface="Times New Roman"/>
                <a:cs typeface="Times New Roman"/>
              </a:rPr>
              <a:t>intervention,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workload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earlier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interventions.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Times New Roman"/>
              <a:cs typeface="Times New Roman"/>
            </a:endParaRPr>
          </a:p>
          <a:p>
            <a:pPr marL="298450" lvl="1" indent="-285750">
              <a:lnSpc>
                <a:spcPct val="100000"/>
              </a:lnSpc>
              <a:buAutoNum type="arabicPeriod" startAt="2"/>
              <a:tabLst>
                <a:tab pos="298450" algn="l"/>
              </a:tabLst>
            </a:pPr>
            <a:r>
              <a:rPr sz="1500" b="1" dirty="0">
                <a:latin typeface="Times New Roman"/>
                <a:cs typeface="Times New Roman"/>
              </a:rPr>
              <a:t>Problem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Statement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500">
              <a:latin typeface="Times New Roman"/>
              <a:cs typeface="Times New Roman"/>
            </a:endParaRPr>
          </a:p>
          <a:p>
            <a:pPr marL="26034" marR="92075" indent="-5080" algn="just">
              <a:lnSpc>
                <a:spcPct val="147300"/>
              </a:lnSpc>
            </a:pP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millions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people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over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suffer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presentation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user\’s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assuming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lot.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beginning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people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anywhere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saving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frustration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treat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them.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this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analyze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render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workup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0091" y="389078"/>
            <a:ext cx="5781040" cy="8418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652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 marL="20320" marR="406400">
              <a:lnSpc>
                <a:spcPct val="148200"/>
              </a:lnSpc>
              <a:spcBef>
                <a:spcPts val="685"/>
              </a:spcBef>
            </a:pP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dermatology.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physicians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workup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render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therapeutical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analyze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therapeutic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render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100">
              <a:latin typeface="Times New Roman"/>
              <a:cs typeface="Times New Roman"/>
            </a:endParaRPr>
          </a:p>
          <a:p>
            <a:pPr marL="20320" marR="259079" indent="-5080">
              <a:lnSpc>
                <a:spcPct val="148200"/>
              </a:lnSpc>
            </a:pP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skincare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assistance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individuals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disorders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technologically </a:t>
            </a:r>
            <a:r>
              <a:rPr sz="1100" dirty="0">
                <a:latin typeface="Times New Roman"/>
                <a:cs typeface="Times New Roman"/>
              </a:rPr>
              <a:t>advance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procedure.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assist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people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comfort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dernological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conditions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100">
              <a:latin typeface="Times New Roman"/>
              <a:cs typeface="Times New Roman"/>
            </a:endParaRPr>
          </a:p>
          <a:p>
            <a:pPr marL="20320" marR="69850" indent="27305" algn="just">
              <a:lnSpc>
                <a:spcPct val="14730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analyze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workup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assist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physicians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be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done.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assist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physicians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summarize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analyze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render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therapeutic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diagnosis.</a:t>
            </a:r>
            <a:endParaRPr sz="1100">
              <a:latin typeface="Times New Roman"/>
              <a:cs typeface="Times New Roman"/>
            </a:endParaRPr>
          </a:p>
          <a:p>
            <a:pPr marL="18415" marR="7620" indent="-6350" algn="just">
              <a:lnSpc>
                <a:spcPct val="147300"/>
              </a:lnSpc>
              <a:spcBef>
                <a:spcPts val="40"/>
              </a:spcBef>
            </a:pP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available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assist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dermatology </a:t>
            </a:r>
            <a:r>
              <a:rPr sz="1100" dirty="0">
                <a:latin typeface="Times New Roman"/>
                <a:cs typeface="Times New Roman"/>
              </a:rPr>
              <a:t>physicians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done.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cancers,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becoming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increasingly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difficult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nature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variability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worldwide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because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extreme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difficulty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treatment.</a:t>
            </a:r>
            <a:endParaRPr sz="1100">
              <a:latin typeface="Times New Roman"/>
              <a:cs typeface="Times New Roman"/>
            </a:endParaRPr>
          </a:p>
          <a:p>
            <a:pPr marL="18415" marR="6985" indent="-6350" algn="just">
              <a:lnSpc>
                <a:spcPct val="148200"/>
              </a:lnSpc>
              <a:spcBef>
                <a:spcPts val="1090"/>
              </a:spcBef>
            </a:pP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composed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layers,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affected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thousands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benign,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example,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eczema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acne,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there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life-threatening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represented,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Melanoma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cancer)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</a:t>
            </a:r>
            <a:r>
              <a:rPr sz="1100" dirty="0">
                <a:latin typeface="Times New Roman"/>
                <a:cs typeface="Times New Roman"/>
              </a:rPr>
              <a:t>occur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relative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frequency.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factors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management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serious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cancers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include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quickly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made.</a:t>
            </a:r>
            <a:endParaRPr sz="11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47500"/>
              </a:lnSpc>
              <a:spcBef>
                <a:spcPts val="1075"/>
              </a:spcBef>
            </a:pPr>
            <a:r>
              <a:rPr sz="1100" dirty="0">
                <a:latin typeface="Times New Roman"/>
                <a:cs typeface="Times New Roman"/>
              </a:rPr>
              <a:t>GP's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observation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patient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thorough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examination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dermatologist.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range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limitations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weaknesses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process.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Consequently,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rather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simple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immediate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demand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AI-based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Tool </a:t>
            </a:r>
            <a:r>
              <a:rPr sz="1100" dirty="0">
                <a:latin typeface="Times New Roman"/>
                <a:cs typeface="Times New Roman"/>
              </a:rPr>
              <a:t>(PDST)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thoroughly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validated,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verified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addresses</a:t>
            </a:r>
            <a:endParaRPr sz="11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47300"/>
              </a:lnSpc>
              <a:spcBef>
                <a:spcPts val="113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expressed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building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(DCNN)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immediate,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evidence-supported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assessments;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(2)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mechanism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considerably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decreasing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identifying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initiating </a:t>
            </a:r>
            <a:r>
              <a:rPr sz="1100" dirty="0">
                <a:latin typeface="Times New Roman"/>
                <a:cs typeface="Times New Roman"/>
              </a:rPr>
              <a:t>treatment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</a:t>
            </a:r>
            <a:r>
              <a:rPr sz="1100" spc="4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referring</a:t>
            </a:r>
            <a:r>
              <a:rPr sz="1100" spc="4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specialist</a:t>
            </a:r>
            <a:r>
              <a:rPr sz="1100" spc="4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reassurance);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(3)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incorporating </a:t>
            </a:r>
            <a:r>
              <a:rPr sz="1100" dirty="0">
                <a:latin typeface="Times New Roman"/>
                <a:cs typeface="Times New Roman"/>
              </a:rPr>
              <a:t>'Explainable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AI'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(XAI)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total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acceptability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accountability;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(4)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11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3139" y="389078"/>
            <a:ext cx="5778500" cy="4302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334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 marL="15240" marR="14604" algn="just">
              <a:lnSpc>
                <a:spcPct val="148200"/>
              </a:lnSpc>
              <a:spcBef>
                <a:spcPts val="685"/>
              </a:spcBef>
            </a:pP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equitable,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various </a:t>
            </a:r>
            <a:r>
              <a:rPr sz="1100" dirty="0">
                <a:latin typeface="Times New Roman"/>
                <a:cs typeface="Times New Roman"/>
              </a:rPr>
              <a:t>populations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adequately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served.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1.2.1</a:t>
            </a:r>
            <a:r>
              <a:rPr sz="1300" b="1" spc="35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Justification</a:t>
            </a:r>
            <a:r>
              <a:rPr sz="1300" b="1" spc="-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of</a:t>
            </a:r>
            <a:r>
              <a:rPr sz="1300" b="1" spc="-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AI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solution</a:t>
            </a:r>
            <a:endParaRPr sz="13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47200"/>
              </a:lnSpc>
              <a:spcBef>
                <a:spcPts val="1245"/>
              </a:spcBef>
            </a:pP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inaccuracy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subjectivity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human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expertise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(dermatology)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subjective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varied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nature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human </a:t>
            </a:r>
            <a:r>
              <a:rPr sz="1100" dirty="0">
                <a:latin typeface="Times New Roman"/>
                <a:cs typeface="Times New Roman"/>
              </a:rPr>
              <a:t>interpretation.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(AI)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(DCNNs)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advantage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diagnosing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disorders.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taught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recognize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obscure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visual </a:t>
            </a:r>
            <a:r>
              <a:rPr sz="1100" dirty="0">
                <a:latin typeface="Times New Roman"/>
                <a:cs typeface="Times New Roman"/>
              </a:rPr>
              <a:t>patterns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relationships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disorders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large,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well-organized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datasets. </a:t>
            </a:r>
            <a:r>
              <a:rPr sz="1100" dirty="0">
                <a:latin typeface="Times New Roman"/>
                <a:cs typeface="Times New Roman"/>
              </a:rPr>
              <a:t>Thus,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impartial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opinion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doctor,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permitting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standardization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initial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screening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hundreds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attributes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multiple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error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conditions. </a:t>
            </a:r>
            <a:r>
              <a:rPr sz="1100" dirty="0">
                <a:latin typeface="Times New Roman"/>
                <a:cs typeface="Times New Roman"/>
              </a:rPr>
              <a:t>Consequently,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reducing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undergoing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unnecessary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invasive </a:t>
            </a:r>
            <a:r>
              <a:rPr sz="1100" dirty="0">
                <a:latin typeface="Times New Roman"/>
                <a:cs typeface="Times New Roman"/>
              </a:rPr>
              <a:t>procedures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associated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false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positives,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decrease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malignant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4920996"/>
            <a:ext cx="3713987" cy="35493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25572" y="8660655"/>
            <a:ext cx="20510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1.2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12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14420" y="389078"/>
            <a:ext cx="314452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13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995" y="679526"/>
            <a:ext cx="5789930" cy="8221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1.3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Project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Objectives</a:t>
            </a:r>
            <a:endParaRPr sz="1500">
              <a:latin typeface="Times New Roman"/>
              <a:cs typeface="Times New Roman"/>
            </a:endParaRPr>
          </a:p>
          <a:p>
            <a:pPr marL="24765" marR="5080" indent="-6350" algn="just">
              <a:lnSpc>
                <a:spcPct val="156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(such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ResNet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EfficientNet)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highest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prevalent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dermatosis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(e.g. </a:t>
            </a:r>
            <a:r>
              <a:rPr sz="1100" dirty="0">
                <a:latin typeface="Times New Roman"/>
                <a:cs typeface="Times New Roman"/>
              </a:rPr>
              <a:t>melanoma,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basal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carcinoma,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benign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nevi,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eczema,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acne)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previously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unseen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independent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set.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2.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(DCNN),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using </a:t>
            </a:r>
            <a:r>
              <a:rPr sz="1100" dirty="0">
                <a:latin typeface="Times New Roman"/>
                <a:cs typeface="Times New Roman"/>
              </a:rPr>
              <a:t>transfer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model's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highest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producing </a:t>
            </a:r>
            <a:r>
              <a:rPr sz="1100" dirty="0">
                <a:latin typeface="Times New Roman"/>
                <a:cs typeface="Times New Roman"/>
              </a:rPr>
              <a:t>false-negative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delayed-diagnosis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errors.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3.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Transfer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Life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Situations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augment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images </a:t>
            </a:r>
            <a:r>
              <a:rPr sz="1100" dirty="0">
                <a:latin typeface="Times New Roman"/>
                <a:cs typeface="Times New Roman"/>
              </a:rPr>
              <a:t>available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largest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possible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range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real-life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scenarios,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lighting, </a:t>
            </a:r>
            <a:r>
              <a:rPr sz="1100" dirty="0">
                <a:latin typeface="Times New Roman"/>
                <a:cs typeface="Times New Roman"/>
              </a:rPr>
              <a:t>camera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resolution,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tone.</a:t>
            </a:r>
            <a:endParaRPr sz="1100">
              <a:latin typeface="Times New Roman"/>
              <a:cs typeface="Times New Roman"/>
            </a:endParaRPr>
          </a:p>
          <a:p>
            <a:pPr marL="24765" marR="8255" indent="-6350" algn="just">
              <a:lnSpc>
                <a:spcPct val="154900"/>
              </a:lnSpc>
              <a:spcBef>
                <a:spcPts val="113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complete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ranked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most </a:t>
            </a:r>
            <a:r>
              <a:rPr sz="1100" dirty="0">
                <a:latin typeface="Times New Roman"/>
                <a:cs typeface="Times New Roman"/>
              </a:rPr>
              <a:t>likely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user’s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input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distorted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photograph.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percentage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associated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along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treatment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recommended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(e.g. </a:t>
            </a:r>
            <a:r>
              <a:rPr sz="1100" dirty="0">
                <a:latin typeface="Times New Roman"/>
                <a:cs typeface="Times New Roman"/>
              </a:rPr>
              <a:t>urgent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referral,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follow-up,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home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care).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XAI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(explanations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artificial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view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uploaded </a:t>
            </a:r>
            <a:r>
              <a:rPr sz="1100" dirty="0">
                <a:latin typeface="Times New Roman"/>
                <a:cs typeface="Times New Roman"/>
              </a:rPr>
              <a:t>photo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determined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important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24765" marR="15875" indent="-6350" algn="just">
              <a:lnSpc>
                <a:spcPct val="154500"/>
              </a:lnSpc>
              <a:spcBef>
                <a:spcPts val="1190"/>
              </a:spcBef>
            </a:pP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arrived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diagnosis.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increasing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clinician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confidence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model's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capabilities.</a:t>
            </a:r>
            <a:endParaRPr sz="1100">
              <a:latin typeface="Times New Roman"/>
              <a:cs typeface="Times New Roman"/>
            </a:endParaRPr>
          </a:p>
          <a:p>
            <a:pPr marL="24765" marR="12065" indent="-6350" algn="just">
              <a:lnSpc>
                <a:spcPct val="156400"/>
              </a:lnSpc>
              <a:spcBef>
                <a:spcPts val="1125"/>
              </a:spcBef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user-friendly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their </a:t>
            </a:r>
            <a:r>
              <a:rPr sz="1100" dirty="0">
                <a:latin typeface="Times New Roman"/>
                <a:cs typeface="Times New Roman"/>
              </a:rPr>
              <a:t>photo,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receive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workflows.</a:t>
            </a:r>
            <a:endParaRPr sz="1100">
              <a:latin typeface="Times New Roman"/>
              <a:cs typeface="Times New Roman"/>
            </a:endParaRPr>
          </a:p>
          <a:p>
            <a:pPr marL="24765" marR="5715" indent="-6350" algn="just">
              <a:lnSpc>
                <a:spcPct val="155900"/>
              </a:lnSpc>
              <a:spcBef>
                <a:spcPts val="1135"/>
              </a:spcBef>
            </a:pPr>
            <a:r>
              <a:rPr sz="1100" dirty="0">
                <a:latin typeface="Times New Roman"/>
                <a:cs typeface="Times New Roman"/>
              </a:rPr>
              <a:t>External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Benchmarking: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combination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exhaustively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final </a:t>
            </a:r>
            <a:r>
              <a:rPr sz="1100" dirty="0">
                <a:latin typeface="Times New Roman"/>
                <a:cs typeface="Times New Roman"/>
              </a:rPr>
              <a:t>model's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efficacy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F1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AUC)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juxtaposed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cutting-edge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(top-performing)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utilising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public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(HAM10000,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ISIC).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Efficiency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Scalability: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IPC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predictive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less;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isn't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product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and/or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process's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demonstration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real-world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Evidence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suffers.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Compliance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Ethical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Privacy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Regulations: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Approval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obtained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patient's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participating </a:t>
            </a:r>
            <a:r>
              <a:rPr sz="1100" dirty="0">
                <a:latin typeface="Times New Roman"/>
                <a:cs typeface="Times New Roman"/>
              </a:rPr>
              <a:t>Healthcare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organisation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De-Identification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standard </a:t>
            </a:r>
            <a:r>
              <a:rPr sz="1100" dirty="0">
                <a:latin typeface="Times New Roman"/>
                <a:cs typeface="Times New Roman"/>
              </a:rPr>
              <a:t>documentation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protocol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established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purpose.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Additionally,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3995" y="389078"/>
            <a:ext cx="5795010" cy="7110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287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 marL="24765" marR="21590" algn="just">
              <a:lnSpc>
                <a:spcPct val="1555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solely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solely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(not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prepared </a:t>
            </a:r>
            <a:r>
              <a:rPr sz="1100" dirty="0">
                <a:latin typeface="Times New Roman"/>
                <a:cs typeface="Times New Roman"/>
              </a:rPr>
              <a:t>safely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1.4</a:t>
            </a:r>
            <a:r>
              <a:rPr sz="1500" b="1" spc="37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Overview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Project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Report</a:t>
            </a:r>
            <a:endParaRPr sz="1500">
              <a:latin typeface="Times New Roman"/>
              <a:cs typeface="Times New Roman"/>
            </a:endParaRPr>
          </a:p>
          <a:p>
            <a:pPr marL="26034" marR="7620" indent="-5080" algn="just">
              <a:lnSpc>
                <a:spcPct val="155500"/>
              </a:lnSpc>
              <a:spcBef>
                <a:spcPts val="830"/>
              </a:spcBef>
            </a:pP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1: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introduction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efficiency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gaps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dermatology.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 overview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 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 will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from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application.</a:t>
            </a:r>
            <a:endParaRPr sz="1100">
              <a:latin typeface="Times New Roman"/>
              <a:cs typeface="Times New Roman"/>
            </a:endParaRPr>
          </a:p>
          <a:p>
            <a:pPr marL="26034" marR="8255" indent="-5080" algn="just">
              <a:lnSpc>
                <a:spcPct val="155000"/>
              </a:lnSpc>
              <a:spcBef>
                <a:spcPts val="1170"/>
              </a:spcBef>
            </a:pP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21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2:</a:t>
            </a:r>
            <a:r>
              <a:rPr sz="1100" spc="2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1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Background</a:t>
            </a:r>
            <a:r>
              <a:rPr sz="1100" spc="21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2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21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background</a:t>
            </a:r>
            <a:r>
              <a:rPr sz="1100" spc="21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2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20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dermatological </a:t>
            </a:r>
            <a:r>
              <a:rPr sz="1100" dirty="0">
                <a:latin typeface="Times New Roman"/>
                <a:cs typeface="Times New Roman"/>
              </a:rPr>
              <a:t>classifications,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(DL),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explainable AI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(XAI),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examines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currently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(CNN)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justification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model.</a:t>
            </a:r>
            <a:endParaRPr sz="1100">
              <a:latin typeface="Times New Roman"/>
              <a:cs typeface="Times New Roman"/>
            </a:endParaRPr>
          </a:p>
          <a:p>
            <a:pPr marL="26034" marR="6350" indent="-5080" algn="just">
              <a:lnSpc>
                <a:spcPct val="155200"/>
              </a:lnSpc>
              <a:spcBef>
                <a:spcPts val="1135"/>
              </a:spcBef>
            </a:pP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document,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pages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on </a:t>
            </a:r>
            <a:r>
              <a:rPr sz="1100" dirty="0">
                <a:latin typeface="Times New Roman"/>
                <a:cs typeface="Times New Roman"/>
              </a:rPr>
              <a:t>describing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application,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(and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legal </a:t>
            </a:r>
            <a:r>
              <a:rPr sz="1100" dirty="0">
                <a:latin typeface="Times New Roman"/>
                <a:cs typeface="Times New Roman"/>
              </a:rPr>
              <a:t>considerations),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extensive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preprocessing,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(using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learning),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hyper- </a:t>
            </a:r>
            <a:r>
              <a:rPr sz="1100" dirty="0">
                <a:latin typeface="Times New Roman"/>
                <a:cs typeface="Times New Roman"/>
              </a:rPr>
              <a:t>parameter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optimization,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diagram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tool.</a:t>
            </a:r>
            <a:endParaRPr sz="11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55100"/>
              </a:lnSpc>
              <a:spcBef>
                <a:spcPts val="1190"/>
              </a:spcBef>
            </a:pP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4: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document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presents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experimental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collected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research.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section,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there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pages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describing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metrics,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matrix,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Roc </a:t>
            </a:r>
            <a:r>
              <a:rPr sz="1100" dirty="0">
                <a:latin typeface="Times New Roman"/>
                <a:cs typeface="Times New Roman"/>
              </a:rPr>
              <a:t>analysis.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ablation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choices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augmentation)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impacted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important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Explainability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analysis </a:t>
            </a:r>
            <a:r>
              <a:rPr sz="1100" dirty="0">
                <a:latin typeface="Times New Roman"/>
                <a:cs typeface="Times New Roman"/>
              </a:rPr>
              <a:t>(utilising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decisions.</a:t>
            </a:r>
            <a:endParaRPr sz="1100">
              <a:latin typeface="Times New Roman"/>
              <a:cs typeface="Times New Roman"/>
            </a:endParaRPr>
          </a:p>
          <a:p>
            <a:pPr marL="26034" marR="6985" indent="-5080" algn="just">
              <a:lnSpc>
                <a:spcPct val="155500"/>
              </a:lnSpc>
              <a:spcBef>
                <a:spcPts val="1165"/>
              </a:spcBef>
            </a:pP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5: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Discussion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Conclusion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sections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findings,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results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literature,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determine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whether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project's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stated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cover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important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Bias,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Ethical/Regulatory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Pathways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14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14420" y="389078"/>
            <a:ext cx="314452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15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8956" y="681067"/>
            <a:ext cx="2629535" cy="8216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latin typeface="Times New Roman"/>
                <a:cs typeface="Times New Roman"/>
              </a:rPr>
              <a:t>CHAPTER </a:t>
            </a:r>
            <a:r>
              <a:rPr sz="1300" b="1" spc="-50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50" b="1" dirty="0">
                <a:latin typeface="Times New Roman"/>
                <a:cs typeface="Times New Roman"/>
              </a:rPr>
              <a:t>LITERATURE</a:t>
            </a:r>
            <a:r>
              <a:rPr sz="1850" b="1" spc="-9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REVIEW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1672484"/>
            <a:ext cx="5788025" cy="7430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10795" indent="-5080" algn="just">
              <a:lnSpc>
                <a:spcPct val="1545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literature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examines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techninques.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surveys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video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ESTVA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2019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</a:t>
            </a:r>
            <a:endParaRPr sz="11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5900"/>
              </a:lnSpc>
              <a:spcBef>
                <a:spcPts val="1145"/>
              </a:spcBef>
            </a:pPr>
            <a:r>
              <a:rPr sz="1100" dirty="0">
                <a:latin typeface="Times New Roman"/>
                <a:cs typeface="Times New Roman"/>
              </a:rPr>
              <a:t>Explore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dermatology.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started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 </a:t>
            </a:r>
            <a:r>
              <a:rPr sz="1100" dirty="0">
                <a:latin typeface="Times New Roman"/>
                <a:cs typeface="Times New Roman"/>
              </a:rPr>
              <a:t>HAENSSLE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2020.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emerged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transformative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dermatology, </a:t>
            </a:r>
            <a:r>
              <a:rPr sz="1100" dirty="0">
                <a:latin typeface="Times New Roman"/>
                <a:cs typeface="Times New Roman"/>
              </a:rPr>
              <a:t>enabling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 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automated image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Skin </a:t>
            </a:r>
            <a:r>
              <a:rPr sz="1100" dirty="0">
                <a:latin typeface="Times New Roman"/>
                <a:cs typeface="Times New Roman"/>
              </a:rPr>
              <a:t>disorders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melanoma,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psoriasis,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eczema,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acne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visually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assessed,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ideal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AI-driven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image-based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diagnosis.</a:t>
            </a:r>
            <a:endParaRPr sz="11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5500"/>
              </a:lnSpc>
              <a:spcBef>
                <a:spcPts val="1105"/>
              </a:spcBef>
            </a:pP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handcrafted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colour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lesion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classification.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variability.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introduction</a:t>
            </a:r>
            <a:r>
              <a:rPr sz="1100" spc="25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2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learning,</a:t>
            </a:r>
            <a:r>
              <a:rPr sz="1100" spc="2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especially</a:t>
            </a:r>
            <a:r>
              <a:rPr sz="1100" spc="25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25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2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254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revolutionized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automatically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patterns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 datasets.</a:t>
            </a:r>
            <a:endParaRPr sz="1100">
              <a:latin typeface="Times New Roman"/>
              <a:cs typeface="Times New Roman"/>
            </a:endParaRPr>
          </a:p>
          <a:p>
            <a:pPr marL="17145" marR="8255" indent="-5080" algn="just">
              <a:lnSpc>
                <a:spcPct val="154800"/>
              </a:lnSpc>
              <a:spcBef>
                <a:spcPts val="118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International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Imaging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widely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benchmarking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models.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ResNet,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VGG,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DenseNet,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EfficientNet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achieved </a:t>
            </a:r>
            <a:r>
              <a:rPr sz="1100" dirty="0">
                <a:latin typeface="Times New Roman"/>
                <a:cs typeface="Times New Roman"/>
              </a:rPr>
              <a:t>dermatologist-level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distinguishing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malignant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benign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lesions.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Demonstrated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CNNs </a:t>
            </a:r>
            <a:r>
              <a:rPr sz="1100" dirty="0">
                <a:latin typeface="Times New Roman"/>
                <a:cs typeface="Times New Roman"/>
              </a:rPr>
              <a:t>outperforming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human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experts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melanoma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classification.</a:t>
            </a:r>
            <a:endParaRPr sz="1100">
              <a:latin typeface="Times New Roman"/>
              <a:cs typeface="Times New Roman"/>
            </a:endParaRPr>
          </a:p>
          <a:p>
            <a:pPr marL="12700" marR="308610">
              <a:lnSpc>
                <a:spcPct val="147600"/>
              </a:lnSpc>
              <a:spcBef>
                <a:spcPts val="1240"/>
              </a:spcBef>
            </a:pPr>
            <a:r>
              <a:rPr sz="1100" dirty="0">
                <a:latin typeface="Times New Roman"/>
                <a:cs typeface="Times New Roman"/>
              </a:rPr>
              <a:t>Recent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advancements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Transformers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hybrid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CNN-transformer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which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generalization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diverse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expanding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non- </a:t>
            </a:r>
            <a:r>
              <a:rPr sz="1100" dirty="0">
                <a:latin typeface="Times New Roman"/>
                <a:cs typeface="Times New Roman"/>
              </a:rPr>
              <a:t>cancerous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eczema,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psoriasis,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fungal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infections,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promising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datase</a:t>
            </a:r>
            <a:r>
              <a:rPr sz="850" spc="-10" dirty="0">
                <a:latin typeface="Times New Roman"/>
                <a:cs typeface="Times New Roman"/>
              </a:rPr>
              <a:t>t</a:t>
            </a:r>
            <a:r>
              <a:rPr sz="1100" spc="-10" dirty="0">
                <a:latin typeface="Times New Roman"/>
                <a:cs typeface="Times New Roman"/>
              </a:rPr>
              <a:t>s.</a:t>
            </a:r>
            <a:endParaRPr sz="1100">
              <a:latin typeface="Times New Roman"/>
              <a:cs typeface="Times New Roman"/>
            </a:endParaRPr>
          </a:p>
          <a:p>
            <a:pPr marL="17145" marR="109220" indent="-5080" algn="just">
              <a:lnSpc>
                <a:spcPct val="146800"/>
              </a:lnSpc>
              <a:spcBef>
                <a:spcPts val="560"/>
              </a:spcBef>
            </a:pP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transfer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ImageNet-pretrained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(ResNet,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Inception,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MobileNet, </a:t>
            </a:r>
            <a:r>
              <a:rPr sz="1100" dirty="0">
                <a:latin typeface="Times New Roman"/>
                <a:cs typeface="Times New Roman"/>
              </a:rPr>
              <a:t>EfficientNet)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augmentation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overcome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labeled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medical </a:t>
            </a:r>
            <a:r>
              <a:rPr sz="1100" dirty="0">
                <a:latin typeface="Times New Roman"/>
                <a:cs typeface="Times New Roman"/>
              </a:rPr>
              <a:t>data.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ensembling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multi-task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(classification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plus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segmentation)</a:t>
            </a:r>
            <a:endParaRPr sz="1100">
              <a:latin typeface="Times New Roman"/>
              <a:cs typeface="Times New Roman"/>
            </a:endParaRPr>
          </a:p>
          <a:p>
            <a:pPr marL="17145" marR="190500" indent="-5080" algn="just">
              <a:lnSpc>
                <a:spcPct val="146800"/>
              </a:lnSpc>
              <a:spcBef>
                <a:spcPts val="844"/>
              </a:spcBef>
            </a:pP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boost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robustness.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Explainability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methods—most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notably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Grad-CAM—are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widely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applied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regions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drove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clinician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helps </a:t>
            </a:r>
            <a:r>
              <a:rPr sz="1100" dirty="0">
                <a:latin typeface="Times New Roman"/>
                <a:cs typeface="Times New Roman"/>
              </a:rPr>
              <a:t>detect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spurious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correlations.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3139" y="389078"/>
            <a:ext cx="5765800" cy="8769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334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 marL="17145" marR="36195" indent="-5080" algn="just">
              <a:lnSpc>
                <a:spcPct val="147300"/>
              </a:lnSpc>
              <a:spcBef>
                <a:spcPts val="695"/>
              </a:spcBef>
            </a:pP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limitation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patients,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researchers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rethink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factors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incorporated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their </a:t>
            </a:r>
            <a:r>
              <a:rPr sz="1100" dirty="0">
                <a:latin typeface="Times New Roman"/>
                <a:cs typeface="Times New Roman"/>
              </a:rPr>
              <a:t>models.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researchers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synthetic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collecting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targeted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darker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individuals </a:t>
            </a:r>
            <a:r>
              <a:rPr sz="1100" dirty="0">
                <a:latin typeface="Times New Roman"/>
                <a:cs typeface="Times New Roman"/>
              </a:rPr>
              <a:t>and/or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socio-economic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status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individuals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still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ongoing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define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bias.</a:t>
            </a:r>
            <a:endParaRPr sz="1100">
              <a:latin typeface="Times New Roman"/>
              <a:cs typeface="Times New Roman"/>
            </a:endParaRPr>
          </a:p>
          <a:p>
            <a:pPr marL="17145" marR="35560" indent="-5080" algn="just">
              <a:lnSpc>
                <a:spcPct val="147400"/>
              </a:lnSpc>
              <a:spcBef>
                <a:spcPts val="840"/>
              </a:spcBef>
            </a:pPr>
            <a:r>
              <a:rPr sz="1100" dirty="0">
                <a:latin typeface="Times New Roman"/>
                <a:cs typeface="Times New Roman"/>
              </a:rPr>
              <a:t>Researchers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thoroughly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reviewed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aspects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translation,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regulatory </a:t>
            </a:r>
            <a:r>
              <a:rPr sz="1100" dirty="0">
                <a:latin typeface="Times New Roman"/>
                <a:cs typeface="Times New Roman"/>
              </a:rPr>
              <a:t>approval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incorporation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treatment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associated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those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(images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regular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devices/dermatoscopy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technology),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whether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(age,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gender,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ethnic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background).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Those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same </a:t>
            </a:r>
            <a:r>
              <a:rPr sz="1100" dirty="0">
                <a:latin typeface="Times New Roman"/>
                <a:cs typeface="Times New Roman"/>
              </a:rPr>
              <a:t>reviews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recommend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rigorous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evaluations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(external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validation)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models, </a:t>
            </a:r>
            <a:r>
              <a:rPr sz="1100" dirty="0">
                <a:latin typeface="Times New Roman"/>
                <a:cs typeface="Times New Roman"/>
              </a:rPr>
              <a:t>plus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completion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trials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multidisciplinary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strategies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pathway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(Artificial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Intelligence)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dermatologists.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pathways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robust,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sufficient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producing </a:t>
            </a:r>
            <a:r>
              <a:rPr sz="1100" dirty="0">
                <a:latin typeface="Times New Roman"/>
                <a:cs typeface="Times New Roman"/>
              </a:rPr>
              <a:t>explainable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bias,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least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adequate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environment.</a:t>
            </a:r>
            <a:endParaRPr sz="1100">
              <a:latin typeface="Times New Roman"/>
              <a:cs typeface="Times New Roman"/>
            </a:endParaRPr>
          </a:p>
          <a:p>
            <a:pPr marL="17145" marR="29845" indent="-5080" algn="just">
              <a:lnSpc>
                <a:spcPct val="147400"/>
              </a:lnSpc>
              <a:spcBef>
                <a:spcPts val="765"/>
              </a:spcBef>
            </a:pP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(AI)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(DL)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100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</a:t>
            </a:r>
            <a:r>
              <a:rPr sz="1100" dirty="0">
                <a:latin typeface="Times New Roman"/>
                <a:cs typeface="Times New Roman"/>
              </a:rPr>
              <a:t>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applications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more</a:t>
            </a:r>
            <a:r>
              <a:rPr sz="1100" u="sng" spc="1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recently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evidence-based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use.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technology,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DL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provide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arising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availability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inaccuracies </a:t>
            </a:r>
            <a:r>
              <a:rPr sz="1100" dirty="0">
                <a:latin typeface="Times New Roman"/>
                <a:cs typeface="Times New Roman"/>
              </a:rPr>
              <a:t>associated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human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decision-making.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strides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improving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(CNNs)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Recent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literature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confirms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effectiveness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1100" u="sng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aide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diagnosis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cancers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Well-trained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demonstrated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comparable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experienced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shown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outperform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narrow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contributed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publicly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available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including</a:t>
            </a:r>
            <a:endParaRPr sz="1100">
              <a:latin typeface="Times New Roman"/>
              <a:cs typeface="Times New Roman"/>
            </a:endParaRPr>
          </a:p>
          <a:p>
            <a:pPr marL="17145" marR="41910" indent="-5080" algn="just">
              <a:lnSpc>
                <a:spcPct val="147300"/>
              </a:lnSpc>
              <a:spcBef>
                <a:spcPts val="770"/>
              </a:spcBef>
            </a:pPr>
            <a:r>
              <a:rPr sz="1100" dirty="0">
                <a:latin typeface="Times New Roman"/>
                <a:cs typeface="Times New Roman"/>
              </a:rPr>
              <a:t>HAM10000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benign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versus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malignant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images,)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ISIC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(International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Collaboration)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archives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(full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  <a:p>
            <a:pPr marL="17145" marR="34290" indent="-5080" algn="just">
              <a:lnSpc>
                <a:spcPct val="147600"/>
              </a:lnSpc>
              <a:spcBef>
                <a:spcPts val="555"/>
              </a:spcBef>
            </a:pPr>
            <a:r>
              <a:rPr sz="1100" dirty="0">
                <a:latin typeface="Times New Roman"/>
                <a:cs typeface="Times New Roman"/>
              </a:rPr>
              <a:t>Dermatoscopic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melanoma,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basal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carcinoma,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benign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malignant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skin </a:t>
            </a:r>
            <a:r>
              <a:rPr sz="1100" dirty="0">
                <a:latin typeface="Times New Roman"/>
                <a:cs typeface="Times New Roman"/>
              </a:rPr>
              <a:t>conditions).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Although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benefit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researchers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academic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benchmarking,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inherent </a:t>
            </a:r>
            <a:r>
              <a:rPr sz="1100" dirty="0">
                <a:latin typeface="Times New Roman"/>
                <a:cs typeface="Times New Roman"/>
              </a:rPr>
              <a:t>initial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imbalance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benign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malignant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requires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methodology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benign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(common)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variety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16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3139" y="389078"/>
            <a:ext cx="5765800" cy="454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334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 marL="17145" marR="61594" algn="just">
              <a:lnSpc>
                <a:spcPct val="147300"/>
              </a:lnSpc>
              <a:spcBef>
                <a:spcPts val="695"/>
              </a:spcBef>
            </a:pP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resolve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imbalance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datasets.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These</a:t>
            </a:r>
            <a:r>
              <a:rPr sz="1100" u="sng" spc="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include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augmentation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1100" u="sng" spc="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</a:t>
            </a:r>
            <a:r>
              <a:rPr sz="1100" dirty="0">
                <a:latin typeface="Times New Roman"/>
                <a:cs typeface="Times New Roman"/>
              </a:rPr>
              <a:t>velopment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specialized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loss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functions.</a:t>
            </a:r>
            <a:endParaRPr sz="1100">
              <a:latin typeface="Times New Roman"/>
              <a:cs typeface="Times New Roman"/>
            </a:endParaRPr>
          </a:p>
          <a:p>
            <a:pPr marL="17145" marR="32384" indent="-5080" algn="just">
              <a:lnSpc>
                <a:spcPct val="147300"/>
              </a:lnSpc>
              <a:spcBef>
                <a:spcPts val="770"/>
              </a:spcBef>
            </a:pP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observed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baseline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algorithms,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ResNet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InceptionV3,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provide </a:t>
            </a:r>
            <a:r>
              <a:rPr sz="1100" dirty="0">
                <a:latin typeface="Times New Roman"/>
                <a:cs typeface="Times New Roman"/>
              </a:rPr>
              <a:t>higher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large</a:t>
            </a:r>
            <a:r>
              <a:rPr sz="11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scale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datasets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ImageNet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Dataset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transfer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classify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(including </a:t>
            </a:r>
            <a:r>
              <a:rPr sz="1100" dirty="0">
                <a:latin typeface="Times New Roman"/>
                <a:cs typeface="Times New Roman"/>
              </a:rPr>
              <a:t>Melanoma)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(greater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[85]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[95+])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classifying </a:t>
            </a:r>
            <a:r>
              <a:rPr sz="1100" dirty="0">
                <a:latin typeface="Times New Roman"/>
                <a:cs typeface="Times New Roman"/>
              </a:rPr>
              <a:t>images.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state- </a:t>
            </a:r>
            <a:r>
              <a:rPr sz="1100" dirty="0">
                <a:latin typeface="Times New Roman"/>
                <a:cs typeface="Times New Roman"/>
              </a:rPr>
              <a:t>of-the-art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approaches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automatic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detection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melanoma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cancers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images that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1100" dirty="0">
                <a:latin typeface="Times New Roman"/>
                <a:cs typeface="Times New Roman"/>
              </a:rPr>
              <a:t> fall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narrow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categories).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Therefore,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carry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classification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</a:t>
            </a:r>
            <a:r>
              <a:rPr sz="1100" u="sng" spc="3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100" u="sng" spc="3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care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resource-poor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environments</a:t>
            </a:r>
            <a:r>
              <a:rPr sz="1100" u="sng" spc="4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significant </a:t>
            </a:r>
            <a:r>
              <a:rPr sz="1100" dirty="0">
                <a:latin typeface="Times New Roman"/>
                <a:cs typeface="Times New Roman"/>
              </a:rPr>
              <a:t>investment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investigations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computationally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 </a:t>
            </a:r>
            <a:r>
              <a:rPr sz="1100" dirty="0">
                <a:latin typeface="Times New Roman"/>
                <a:cs typeface="Times New Roman"/>
              </a:rPr>
              <a:t>(such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MobileNetV2)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capable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low</a:t>
            </a:r>
            <a:r>
              <a:rPr sz="1100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latency</a:t>
            </a:r>
            <a:r>
              <a:rPr sz="1100" u="sng" spc="1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outputs.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additional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methodologies,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introduction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time</a:t>
            </a:r>
            <a:r>
              <a:rPr sz="11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series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modelling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LSTM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</a:t>
            </a:r>
            <a:r>
              <a:rPr sz="1100" dirty="0">
                <a:latin typeface="Times New Roman"/>
                <a:cs typeface="Times New Roman"/>
              </a:rPr>
              <a:t>similar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approaches,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patterns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relationships </a:t>
            </a:r>
            <a:r>
              <a:rPr sz="1100" dirty="0">
                <a:latin typeface="Times New Roman"/>
                <a:cs typeface="Times New Roman"/>
              </a:rPr>
              <a:t>demonstrated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therefore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similar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</a:t>
            </a:r>
            <a:r>
              <a:rPr sz="1100" dirty="0">
                <a:latin typeface="Times New Roman"/>
                <a:cs typeface="Times New Roman"/>
              </a:rPr>
              <a:t>under-represented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respect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melanoma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cancers.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17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14420" y="389078"/>
            <a:ext cx="314452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29984" y="2801111"/>
            <a:ext cx="45720" cy="6350"/>
          </a:xfrm>
          <a:custGeom>
            <a:avLst/>
            <a:gdLst/>
            <a:ahLst/>
            <a:cxnLst/>
            <a:rect l="l" t="t" r="r" b="b"/>
            <a:pathLst>
              <a:path w="45720" h="6350">
                <a:moveTo>
                  <a:pt x="45719" y="6096"/>
                </a:moveTo>
                <a:lnTo>
                  <a:pt x="0" y="6096"/>
                </a:lnTo>
                <a:lnTo>
                  <a:pt x="0" y="0"/>
                </a:lnTo>
                <a:lnTo>
                  <a:pt x="45719" y="0"/>
                </a:lnTo>
                <a:lnTo>
                  <a:pt x="45719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3995" y="601668"/>
            <a:ext cx="5800725" cy="786320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740"/>
              </a:spcBef>
            </a:pPr>
            <a:r>
              <a:rPr sz="1300" b="1" dirty="0">
                <a:latin typeface="Times New Roman"/>
                <a:cs typeface="Times New Roman"/>
              </a:rPr>
              <a:t>CHAPTER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  <a:spcBef>
                <a:spcPts val="925"/>
              </a:spcBef>
            </a:pPr>
            <a:r>
              <a:rPr sz="1850" b="1" spc="-10" dirty="0">
                <a:latin typeface="Times New Roman"/>
                <a:cs typeface="Times New Roman"/>
              </a:rPr>
              <a:t>METHODOLOGY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500" b="1" dirty="0">
                <a:latin typeface="Times New Roman"/>
                <a:cs typeface="Times New Roman"/>
              </a:rPr>
              <a:t>3.1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Project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Methodology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Selection</a:t>
            </a:r>
            <a:endParaRPr sz="15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55300"/>
              </a:lnSpc>
              <a:spcBef>
                <a:spcPts val="640"/>
              </a:spcBef>
            </a:pPr>
            <a:r>
              <a:rPr sz="1100" dirty="0">
                <a:latin typeface="Times New Roman"/>
                <a:cs typeface="Times New Roman"/>
              </a:rPr>
              <a:t>Choosing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appropriate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methodology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AI-Driven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be </a:t>
            </a:r>
            <a:r>
              <a:rPr sz="1100" dirty="0">
                <a:latin typeface="Times New Roman"/>
                <a:cs typeface="Times New Roman"/>
              </a:rPr>
              <a:t>important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reasons: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rigor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practical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implemented,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ultimately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compatibility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CRISP-</a:t>
            </a:r>
            <a:r>
              <a:rPr sz="1100" spc="-25" dirty="0">
                <a:latin typeface="Times New Roman"/>
                <a:cs typeface="Times New Roman"/>
              </a:rPr>
              <a:t>DM </a:t>
            </a:r>
            <a:r>
              <a:rPr sz="1100" dirty="0">
                <a:latin typeface="Times New Roman"/>
                <a:cs typeface="Times New Roman"/>
              </a:rPr>
              <a:t>(Cross-Industry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Mining)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Agile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principles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100" u="sng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Hy</a:t>
            </a:r>
            <a:r>
              <a:rPr sz="1100" dirty="0">
                <a:latin typeface="Times New Roman"/>
                <a:cs typeface="Times New Roman"/>
              </a:rPr>
              <a:t>brid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Approach.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"six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phases"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CRISP-</a:t>
            </a:r>
            <a:r>
              <a:rPr sz="1100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DM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basis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AI-Driven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Dermatology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important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non-linear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data </a:t>
            </a:r>
            <a:r>
              <a:rPr sz="1100" dirty="0">
                <a:latin typeface="Times New Roman"/>
                <a:cs typeface="Times New Roman"/>
              </a:rPr>
              <a:t>science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projects.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example,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CRISP-DM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Business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Understanding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target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outlined,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Sensitivity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Melanoma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when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until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acted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upon.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measurement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yardsticks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against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measured.</a:t>
            </a:r>
            <a:endParaRPr sz="1100">
              <a:latin typeface="Times New Roman"/>
              <a:cs typeface="Times New Roman"/>
            </a:endParaRPr>
          </a:p>
          <a:p>
            <a:pPr marL="26034" marR="8890" indent="-5080" algn="just">
              <a:lnSpc>
                <a:spcPct val="156000"/>
              </a:lnSpc>
              <a:spcBef>
                <a:spcPts val="122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involves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intensive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external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proprietary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resources </a:t>
            </a:r>
            <a:r>
              <a:rPr sz="1100" dirty="0">
                <a:latin typeface="Times New Roman"/>
                <a:cs typeface="Times New Roman"/>
              </a:rPr>
              <a:t>(for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ISIC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HAM10000),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exploring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imbalance,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inherent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bias,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quality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Assessment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impact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subsequent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Preparation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throughout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remainder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Preparation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encompasses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areas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sophisticated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Normalization,</a:t>
            </a:r>
            <a:r>
              <a:rPr sz="1100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Artifact</a:t>
            </a:r>
            <a:r>
              <a:rPr sz="1100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Removal)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robust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augmentation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artificially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enlarged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model’s </a:t>
            </a:r>
            <a:r>
              <a:rPr sz="1100" dirty="0">
                <a:latin typeface="Times New Roman"/>
                <a:cs typeface="Times New Roman"/>
              </a:rPr>
              <a:t>robustness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variability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real-world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strategically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ready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training.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1100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DCNN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Transfer</a:t>
            </a:r>
            <a:r>
              <a:rPr sz="1100" u="sng" spc="1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Learning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(TL),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prepared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intensive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Hyperparameter</a:t>
            </a:r>
            <a:r>
              <a:rPr sz="1100" u="sng" spc="3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Tuning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extreme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resources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evaluating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overall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sensitivity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predetermined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project.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usable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falls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outside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basic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accuracy-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previous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incorporates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measures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F1-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Score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ROC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Area</a:t>
            </a:r>
            <a:r>
              <a:rPr sz="1100" u="sng" spc="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Under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Curve)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incorporates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Explainable</a:t>
            </a:r>
            <a:r>
              <a:rPr sz="1100" u="sng" spc="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Artificial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Intelligence</a:t>
            </a:r>
            <a:r>
              <a:rPr sz="1100" u="sng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(EAI)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(often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referred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18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3995" y="389078"/>
            <a:ext cx="5796915" cy="656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287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 marL="26034" marR="14604" indent="-5080" algn="just">
              <a:lnSpc>
                <a:spcPct val="1555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arrived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conclusions,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satisfying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transparency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adoption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practice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3.2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Description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Methodology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Phases</a:t>
            </a:r>
            <a:endParaRPr sz="1500">
              <a:latin typeface="Times New Roman"/>
              <a:cs typeface="Times New Roman"/>
            </a:endParaRPr>
          </a:p>
          <a:p>
            <a:pPr marL="26034" marR="7620" indent="-5080" algn="just">
              <a:lnSpc>
                <a:spcPct val="155300"/>
              </a:lnSpc>
              <a:spcBef>
                <a:spcPts val="83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lengthy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requirement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paragraph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hardware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lend </a:t>
            </a:r>
            <a:r>
              <a:rPr sz="1100" dirty="0">
                <a:latin typeface="Times New Roman"/>
                <a:cs typeface="Times New Roman"/>
              </a:rPr>
              <a:t>itself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concise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summary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components.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Given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block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text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least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60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lines,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effort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narrative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complete </a:t>
            </a:r>
            <a:r>
              <a:rPr sz="1100" dirty="0">
                <a:latin typeface="Times New Roman"/>
                <a:cs typeface="Times New Roman"/>
              </a:rPr>
              <a:t>Hardware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entire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covering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Training,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Infrastructure,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maximizing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amount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presented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sacrificing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relevance.</a:t>
            </a:r>
            <a:endParaRPr sz="1100">
              <a:latin typeface="Times New Roman"/>
              <a:cs typeface="Times New Roman"/>
            </a:endParaRPr>
          </a:p>
          <a:p>
            <a:pPr marL="26034" marR="6350" indent="-5080" algn="just">
              <a:lnSpc>
                <a:spcPct val="155200"/>
              </a:lnSpc>
              <a:spcBef>
                <a:spcPts val="116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AI-Based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diagnoses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multi-tiered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hardware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project,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Development/Training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possible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computation </a:t>
            </a:r>
            <a:r>
              <a:rPr sz="1100" dirty="0">
                <a:latin typeface="Times New Roman"/>
                <a:cs typeface="Times New Roman"/>
              </a:rPr>
              <a:t>efficiency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phase.</a:t>
            </a:r>
            <a:endParaRPr sz="11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55900"/>
              </a:lnSpc>
              <a:spcBef>
                <a:spcPts val="1185"/>
              </a:spcBef>
            </a:pPr>
            <a:r>
              <a:rPr sz="1100" dirty="0">
                <a:latin typeface="Times New Roman"/>
                <a:cs typeface="Times New Roman"/>
              </a:rPr>
              <a:t>-During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required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dataset(s)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HAM10000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and/or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ISIC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fine-tune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complex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(DCNN)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architectures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(ResNet,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EfficientNet,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etc.).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researcher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extremely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amount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parallel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accomplish </a:t>
            </a:r>
            <a:r>
              <a:rPr sz="1100" spc="-10" dirty="0">
                <a:latin typeface="Times New Roman"/>
                <a:cs typeface="Times New Roman"/>
              </a:rPr>
              <a:t>this, </a:t>
            </a:r>
            <a:r>
              <a:rPr sz="1100" dirty="0">
                <a:latin typeface="Times New Roman"/>
                <a:cs typeface="Times New Roman"/>
              </a:rPr>
              <a:t>along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hardware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Dedicated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Cloud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Amounts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Video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Graphics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Memory)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cases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VRAM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(Video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Memory) </a:t>
            </a:r>
            <a:r>
              <a:rPr sz="1100" dirty="0">
                <a:latin typeface="Times New Roman"/>
                <a:cs typeface="Times New Roman"/>
              </a:rPr>
              <a:t>capacity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32Gb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greater,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typically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NVIDIA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GPUs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V100,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A100).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essential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researcher's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enough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VRAM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capacity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handle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19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091" y="7967235"/>
            <a:ext cx="6159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14420" y="389078"/>
            <a:ext cx="314452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20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995" y="802399"/>
            <a:ext cx="5795010" cy="75819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565"/>
              </a:spcBef>
            </a:pPr>
            <a:r>
              <a:rPr sz="1300" b="1" dirty="0">
                <a:latin typeface="Times New Roman"/>
                <a:cs typeface="Times New Roman"/>
              </a:rPr>
              <a:t>CHAPTER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4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sz="1850" b="1" dirty="0">
                <a:latin typeface="Times New Roman"/>
                <a:cs typeface="Times New Roman"/>
              </a:rPr>
              <a:t>SYSTEM</a:t>
            </a:r>
            <a:r>
              <a:rPr sz="1850" b="1" spc="6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DESIGN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Times New Roman"/>
                <a:cs typeface="Times New Roman"/>
              </a:rPr>
              <a:t>4.1</a:t>
            </a:r>
            <a:r>
              <a:rPr sz="1300" b="1" spc="-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Acquisition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of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Data</a:t>
            </a:r>
            <a:endParaRPr sz="1300">
              <a:latin typeface="Times New Roman"/>
              <a:cs typeface="Times New Roman"/>
            </a:endParaRPr>
          </a:p>
          <a:p>
            <a:pPr marL="26034" marR="10160" indent="-5080" algn="just">
              <a:lnSpc>
                <a:spcPct val="153600"/>
              </a:lnSpc>
              <a:spcBef>
                <a:spcPts val="775"/>
              </a:spcBef>
            </a:pPr>
            <a:r>
              <a:rPr sz="1100" dirty="0">
                <a:latin typeface="Times New Roman"/>
                <a:cs typeface="Times New Roman"/>
              </a:rPr>
              <a:t>Combining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publicly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once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those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datasets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ethically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least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legally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available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source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acquiring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21590" marR="10160" algn="just">
              <a:lnSpc>
                <a:spcPct val="155500"/>
              </a:lnSpc>
              <a:spcBef>
                <a:spcPts val="115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largest,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curated/public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dermatoscopic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assembled,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collection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benchmark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against,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International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Imaging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(ISIC).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gold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established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dermatology.</a:t>
            </a:r>
            <a:endParaRPr sz="11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55000"/>
              </a:lnSpc>
              <a:spcBef>
                <a:spcPts val="1170"/>
              </a:spcBef>
            </a:pPr>
            <a:r>
              <a:rPr sz="1100" dirty="0">
                <a:latin typeface="Times New Roman"/>
                <a:cs typeface="Times New Roman"/>
              </a:rPr>
              <a:t>HAM10000: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10,000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dermatoscopic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assigned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primary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classes.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HAM10000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excellent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</a:t>
            </a:r>
            <a:r>
              <a:rPr sz="1100" spc="-10" dirty="0">
                <a:latin typeface="Times New Roman"/>
                <a:cs typeface="Times New Roman"/>
              </a:rPr>
              <a:t>class </a:t>
            </a: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basis.</a:t>
            </a:r>
            <a:endParaRPr sz="1100">
              <a:latin typeface="Times New Roman"/>
              <a:cs typeface="Times New Roman"/>
            </a:endParaRPr>
          </a:p>
          <a:p>
            <a:pPr marL="26034" marR="9525" indent="-5080" algn="just">
              <a:lnSpc>
                <a:spcPct val="155000"/>
              </a:lnSpc>
              <a:spcBef>
                <a:spcPts val="1145"/>
              </a:spcBef>
            </a:pP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Specialty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public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licensed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(from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ethical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legal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basis)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eczema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psoriasis,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broader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representation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colour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diversity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beyond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pigmented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lesions.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100">
              <a:latin typeface="Times New Roman"/>
              <a:cs typeface="Times New Roman"/>
            </a:endParaRPr>
          </a:p>
          <a:p>
            <a:pPr marL="2159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Clinical/Proprietary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applicable):</a:t>
            </a:r>
            <a:endParaRPr sz="1100">
              <a:latin typeface="Times New Roman"/>
              <a:cs typeface="Times New Roman"/>
            </a:endParaRPr>
          </a:p>
          <a:p>
            <a:pPr marL="26034" marR="5715" indent="-5080" algn="just">
              <a:lnSpc>
                <a:spcPct val="155900"/>
              </a:lnSpc>
              <a:spcBef>
                <a:spcPts val="1150"/>
              </a:spcBef>
            </a:pPr>
            <a:r>
              <a:rPr sz="1100" dirty="0">
                <a:latin typeface="Times New Roman"/>
                <a:cs typeface="Times New Roman"/>
              </a:rPr>
              <a:t>Supplemental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obtained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hospital sources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relationship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project.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processed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thoughtfully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ethically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compliance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HIPAA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GDPR,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supplemental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be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beyond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just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taken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numerous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equipment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types.</a:t>
            </a:r>
            <a:endParaRPr sz="1100">
              <a:latin typeface="Times New Roman"/>
              <a:cs typeface="Times New Roman"/>
            </a:endParaRPr>
          </a:p>
          <a:p>
            <a:pPr marL="26034" marR="8255" indent="-5080" algn="just">
              <a:lnSpc>
                <a:spcPct val="155500"/>
              </a:lnSpc>
              <a:spcBef>
                <a:spcPts val="1125"/>
              </a:spcBef>
            </a:pPr>
            <a:r>
              <a:rPr sz="1100" dirty="0">
                <a:latin typeface="Times New Roman"/>
                <a:cs typeface="Times New Roman"/>
              </a:rPr>
              <a:t>Curation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numerous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raw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ready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train </a:t>
            </a:r>
            <a:r>
              <a:rPr sz="1100" dirty="0">
                <a:latin typeface="Times New Roman"/>
                <a:cs typeface="Times New Roman"/>
              </a:rPr>
              <a:t>DCNNs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organized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systematic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Times New Roman"/>
              <a:cs typeface="Times New Roman"/>
            </a:endParaRPr>
          </a:p>
          <a:p>
            <a:pPr marL="2159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major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3139" y="389078"/>
            <a:ext cx="5787390" cy="4320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334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 marL="17145" marR="11430" indent="-5080" algn="just">
              <a:lnSpc>
                <a:spcPct val="1555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blurry,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underexposed,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contaminated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(images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</a:t>
            </a:r>
            <a:r>
              <a:rPr sz="1100" dirty="0">
                <a:latin typeface="Times New Roman"/>
                <a:cs typeface="Times New Roman"/>
              </a:rPr>
              <a:t>cannot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removed)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annotation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labels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accurately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image.</a:t>
            </a:r>
            <a:endParaRPr sz="1100">
              <a:latin typeface="Times New Roman"/>
              <a:cs typeface="Times New Roman"/>
            </a:endParaRPr>
          </a:p>
          <a:p>
            <a:pPr marL="17145" marR="12065" indent="-5080" algn="just">
              <a:lnSpc>
                <a:spcPct val="155000"/>
              </a:lnSpc>
              <a:spcBef>
                <a:spcPts val="1170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standardization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images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normalized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pixels.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normalized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pixel </a:t>
            </a:r>
            <a:r>
              <a:rPr sz="1100" dirty="0">
                <a:latin typeface="Times New Roman"/>
                <a:cs typeface="Times New Roman"/>
              </a:rPr>
              <a:t>intensity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governed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model.</a:t>
            </a:r>
            <a:endParaRPr sz="11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5000"/>
              </a:lnSpc>
              <a:spcBef>
                <a:spcPts val="115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eliminate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cause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inaccuracies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DCNN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hair,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bubbles,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rulers.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using </a:t>
            </a:r>
            <a:r>
              <a:rPr sz="1100" dirty="0">
                <a:latin typeface="Times New Roman"/>
                <a:cs typeface="Times New Roman"/>
              </a:rPr>
              <a:t>specialized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Examples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dermatoscopic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figures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below.</a:t>
            </a:r>
            <a:endParaRPr sz="11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6100"/>
              </a:lnSpc>
              <a:spcBef>
                <a:spcPts val="1135"/>
              </a:spcBef>
            </a:pPr>
            <a:r>
              <a:rPr sz="1100" dirty="0">
                <a:latin typeface="Times New Roman"/>
                <a:cs typeface="Times New Roman"/>
              </a:rPr>
              <a:t>Now,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next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artificially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amount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robustness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generalization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model.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Once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are </a:t>
            </a:r>
            <a:r>
              <a:rPr sz="1100" dirty="0">
                <a:latin typeface="Times New Roman"/>
                <a:cs typeface="Times New Roman"/>
              </a:rPr>
              <a:t>completed,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apply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transformations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remaining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images,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rotations, </a:t>
            </a:r>
            <a:r>
              <a:rPr sz="1100" dirty="0">
                <a:latin typeface="Times New Roman"/>
                <a:cs typeface="Times New Roman"/>
              </a:rPr>
              <a:t>vertical/horizontal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flipping,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cropping,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color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jittering,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photometric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distortion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(modifying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brightness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contrast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image).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39" y="4933188"/>
            <a:ext cx="5800344" cy="26517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3139" y="7804167"/>
            <a:ext cx="5782310" cy="1332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4.1.1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Acquisition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4.2</a:t>
            </a:r>
            <a:r>
              <a:rPr sz="1500" b="1" spc="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Data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Curation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 </a:t>
            </a:r>
            <a:r>
              <a:rPr sz="1300" b="1" spc="-10" dirty="0">
                <a:latin typeface="Times New Roman"/>
                <a:cs typeface="Times New Roman"/>
              </a:rPr>
              <a:t>Preparation</a:t>
            </a:r>
            <a:endParaRPr sz="1300">
              <a:latin typeface="Times New Roman"/>
              <a:cs typeface="Times New Roman"/>
            </a:endParaRPr>
          </a:p>
          <a:p>
            <a:pPr marL="17145" marR="5080" indent="-5080">
              <a:lnSpc>
                <a:spcPct val="153600"/>
              </a:lnSpc>
              <a:spcBef>
                <a:spcPts val="1400"/>
              </a:spcBef>
            </a:pPr>
            <a:r>
              <a:rPr sz="1100" dirty="0">
                <a:latin typeface="Times New Roman"/>
                <a:cs typeface="Times New Roman"/>
              </a:rPr>
              <a:t>Curation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numerous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raw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ready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train </a:t>
            </a:r>
            <a:r>
              <a:rPr sz="1100" dirty="0">
                <a:latin typeface="Times New Roman"/>
                <a:cs typeface="Times New Roman"/>
              </a:rPr>
              <a:t>DCNNs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organized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systematic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way.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21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14420" y="389078"/>
            <a:ext cx="314452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4560" y="6289547"/>
            <a:ext cx="3346703" cy="27325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3139" y="1490235"/>
            <a:ext cx="5786120" cy="45726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major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17145" marR="10160" indent="-5080" algn="just">
              <a:lnSpc>
                <a:spcPct val="155900"/>
              </a:lnSpc>
              <a:spcBef>
                <a:spcPts val="1145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blurry,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underexposed,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contaminated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(images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</a:t>
            </a:r>
            <a:r>
              <a:rPr sz="1100" dirty="0">
                <a:latin typeface="Times New Roman"/>
                <a:cs typeface="Times New Roman"/>
              </a:rPr>
              <a:t>cannot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removed)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annotation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labels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accurately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image.</a:t>
            </a:r>
            <a:endParaRPr sz="1100">
              <a:latin typeface="Times New Roman"/>
              <a:cs typeface="Times New Roman"/>
            </a:endParaRPr>
          </a:p>
          <a:p>
            <a:pPr marL="17145" marR="10795" indent="-5080" algn="just">
              <a:lnSpc>
                <a:spcPct val="155000"/>
              </a:lnSpc>
              <a:spcBef>
                <a:spcPts val="1135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standardization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images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normalized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pixels.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normalized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pixel </a:t>
            </a:r>
            <a:r>
              <a:rPr sz="1100" dirty="0">
                <a:latin typeface="Times New Roman"/>
                <a:cs typeface="Times New Roman"/>
              </a:rPr>
              <a:t>intensity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governed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model.</a:t>
            </a:r>
            <a:endParaRPr sz="1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5500"/>
              </a:lnSpc>
              <a:spcBef>
                <a:spcPts val="116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eliminate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cause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inaccuracies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DCNN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hair,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bubbles,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rulers.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using </a:t>
            </a:r>
            <a:r>
              <a:rPr sz="1100" dirty="0">
                <a:latin typeface="Times New Roman"/>
                <a:cs typeface="Times New Roman"/>
              </a:rPr>
              <a:t>specialized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Examples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dermatoscopic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figures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below.</a:t>
            </a:r>
            <a:endParaRPr sz="1100">
              <a:latin typeface="Times New Roman"/>
              <a:cs typeface="Times New Roman"/>
            </a:endParaRPr>
          </a:p>
          <a:p>
            <a:pPr marL="17145" marR="10795" indent="-5080" algn="just">
              <a:lnSpc>
                <a:spcPct val="154500"/>
              </a:lnSpc>
              <a:spcBef>
                <a:spcPts val="1150"/>
              </a:spcBef>
            </a:pPr>
            <a:r>
              <a:rPr sz="1100" dirty="0">
                <a:latin typeface="Times New Roman"/>
                <a:cs typeface="Times New Roman"/>
              </a:rPr>
              <a:t>Now,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next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artificially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amount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robustness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generalization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model.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Once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are</a:t>
            </a:r>
            <a:endParaRPr sz="1100">
              <a:latin typeface="Times New Roman"/>
              <a:cs typeface="Times New Roman"/>
            </a:endParaRPr>
          </a:p>
          <a:p>
            <a:pPr marL="17145" marR="7620" indent="-5080" algn="just">
              <a:lnSpc>
                <a:spcPct val="155000"/>
              </a:lnSpc>
              <a:spcBef>
                <a:spcPts val="1170"/>
              </a:spcBef>
            </a:pPr>
            <a:r>
              <a:rPr sz="1100" dirty="0">
                <a:latin typeface="Times New Roman"/>
                <a:cs typeface="Times New Roman"/>
              </a:rPr>
              <a:t>completed,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apply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transformations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remaining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images,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rotations, </a:t>
            </a:r>
            <a:r>
              <a:rPr sz="1100" dirty="0">
                <a:latin typeface="Times New Roman"/>
                <a:cs typeface="Times New Roman"/>
              </a:rPr>
              <a:t>vertical/horizontal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flipping,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cropping,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color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jittering,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photometric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distortion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(modifying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brightness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contrast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22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3995" y="389078"/>
            <a:ext cx="5794375" cy="2299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287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850">
              <a:latin typeface="Times New Roman"/>
              <a:cs typeface="Times New Roman"/>
            </a:endParaRPr>
          </a:p>
          <a:p>
            <a:pPr marL="28575" algn="ctr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4.2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Times New Roman"/>
                <a:cs typeface="Times New Roman"/>
              </a:rPr>
              <a:t>4.3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Data</a:t>
            </a:r>
            <a:r>
              <a:rPr sz="1300" b="1" spc="-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Preprocessing </a:t>
            </a:r>
            <a:r>
              <a:rPr sz="1300" b="1" spc="-10" dirty="0">
                <a:latin typeface="Times New Roman"/>
                <a:cs typeface="Times New Roman"/>
              </a:rPr>
              <a:t>Pipeline</a:t>
            </a:r>
            <a:endParaRPr sz="13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55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DPP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(Data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Pipeline)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series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raw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collected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format,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cleaned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ready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building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(DCNN).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DPP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directly </a:t>
            </a:r>
            <a:r>
              <a:rPr sz="1100" dirty="0">
                <a:latin typeface="Times New Roman"/>
                <a:cs typeface="Times New Roman"/>
              </a:rPr>
              <a:t>affect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converge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accurately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predict </a:t>
            </a:r>
            <a:r>
              <a:rPr sz="1100" dirty="0">
                <a:latin typeface="Times New Roman"/>
                <a:cs typeface="Times New Roman"/>
              </a:rPr>
              <a:t>outputs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generalize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dataset.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555" y="2921507"/>
            <a:ext cx="5202935" cy="16581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3139" y="4818727"/>
            <a:ext cx="5785485" cy="4359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245110" algn="ctr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4.3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Data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Preprocessing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Pipeline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300">
              <a:latin typeface="Times New Roman"/>
              <a:cs typeface="Times New Roman"/>
            </a:endParaRPr>
          </a:p>
          <a:p>
            <a:pPr marL="334010" lvl="2" indent="-321310">
              <a:lnSpc>
                <a:spcPct val="100000"/>
              </a:lnSpc>
              <a:buAutoNum type="arabicPeriod"/>
              <a:tabLst>
                <a:tab pos="334010" algn="l"/>
              </a:tabLst>
            </a:pPr>
            <a:r>
              <a:rPr sz="1100" b="1" dirty="0">
                <a:latin typeface="Times New Roman"/>
                <a:cs typeface="Times New Roman"/>
              </a:rPr>
              <a:t>Image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Normalization</a:t>
            </a:r>
            <a:r>
              <a:rPr sz="1100" b="1" spc="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Resizing</a:t>
            </a:r>
            <a:endParaRPr sz="1100">
              <a:latin typeface="Times New Roman"/>
              <a:cs typeface="Times New Roman"/>
            </a:endParaRPr>
          </a:p>
          <a:p>
            <a:pPr marL="17145" marR="6350" indent="-5080" algn="just">
              <a:lnSpc>
                <a:spcPct val="155200"/>
              </a:lnSpc>
              <a:spcBef>
                <a:spcPts val="1155"/>
              </a:spcBef>
            </a:pPr>
            <a:r>
              <a:rPr sz="1100" spc="10" dirty="0">
                <a:latin typeface="Times New Roman"/>
                <a:cs typeface="Times New Roman"/>
              </a:rPr>
              <a:t>Resizing: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All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images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will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be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resized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programmatically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to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a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predetermined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size.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Fixed-size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dimensions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accept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size.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resizing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accomplished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sort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interpolation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(such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bilinear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bicubic)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preserve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highest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possible.</a:t>
            </a:r>
            <a:endParaRPr sz="11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5000"/>
              </a:lnSpc>
              <a:spcBef>
                <a:spcPts val="1180"/>
              </a:spcBef>
            </a:pPr>
            <a:r>
              <a:rPr sz="1100" dirty="0">
                <a:latin typeface="Times New Roman"/>
                <a:cs typeface="Times New Roman"/>
              </a:rPr>
              <a:t>Normalizing: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aspect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preparing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pixel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intensity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scale.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Typically,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normalizing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steps: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pixel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values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 original value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 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(usually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255)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 </a:t>
            </a:r>
            <a:r>
              <a:rPr sz="1100" spc="-10" dirty="0">
                <a:latin typeface="Times New Roman"/>
                <a:cs typeface="Times New Roman"/>
              </a:rPr>
              <a:t>dividing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pixel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highest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pixel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recorded.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pixel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values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Z-score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centered.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100">
              <a:latin typeface="Times New Roman"/>
              <a:cs typeface="Times New Roman"/>
            </a:endParaRPr>
          </a:p>
          <a:p>
            <a:pPr marL="324485" lvl="2" indent="-311785">
              <a:lnSpc>
                <a:spcPct val="100000"/>
              </a:lnSpc>
              <a:buAutoNum type="arabicPeriod" startAt="2"/>
              <a:tabLst>
                <a:tab pos="324485" algn="l"/>
              </a:tabLst>
            </a:pPr>
            <a:r>
              <a:rPr sz="1100" b="1" dirty="0">
                <a:latin typeface="Times New Roman"/>
                <a:cs typeface="Times New Roman"/>
              </a:rPr>
              <a:t>Artifact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Removal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Image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Quality</a:t>
            </a:r>
            <a:endParaRPr sz="1100">
              <a:latin typeface="Times New Roman"/>
              <a:cs typeface="Times New Roman"/>
            </a:endParaRPr>
          </a:p>
          <a:p>
            <a:pPr marL="17145" marR="6350" indent="-5080" algn="just">
              <a:lnSpc>
                <a:spcPct val="157300"/>
              </a:lnSpc>
              <a:spcBef>
                <a:spcPts val="1115"/>
              </a:spcBef>
            </a:pP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Quality</a:t>
            </a:r>
            <a:r>
              <a:rPr sz="1100" u="sng" spc="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Filtering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Artifact</a:t>
            </a:r>
            <a:r>
              <a:rPr sz="1100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Removal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important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dermatoscopic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improve</a:t>
            </a:r>
            <a:r>
              <a:rPr sz="1100" u="sng" spc="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clarity.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allow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representation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true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23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18743"/>
            <a:ext cx="6920865" cy="9525"/>
          </a:xfrm>
          <a:custGeom>
            <a:avLst/>
            <a:gdLst/>
            <a:ahLst/>
            <a:cxnLst/>
            <a:rect l="l" t="t" r="r" b="b"/>
            <a:pathLst>
              <a:path w="6920865" h="9525">
                <a:moveTo>
                  <a:pt x="0" y="0"/>
                </a:moveTo>
                <a:lnTo>
                  <a:pt x="6920483" y="9143"/>
                </a:lnTo>
              </a:path>
            </a:pathLst>
          </a:custGeom>
          <a:ln w="6095">
            <a:solidFill>
              <a:srgbClr val="4470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7712" y="389078"/>
            <a:ext cx="5780405" cy="2061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28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 </a:t>
            </a:r>
            <a:r>
              <a:rPr sz="850" i="1" spc="-10" dirty="0">
                <a:latin typeface="Times New Roman"/>
                <a:cs typeface="Times New Roman"/>
              </a:rPr>
              <a:t>preliminary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6100"/>
              </a:lnSpc>
              <a:spcBef>
                <a:spcPts val="590"/>
              </a:spcBef>
            </a:pPr>
            <a:r>
              <a:rPr sz="1100" dirty="0">
                <a:latin typeface="Times New Roman"/>
                <a:cs typeface="Times New Roman"/>
              </a:rPr>
              <a:t>pathology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dermatoscopic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will</a:t>
            </a:r>
            <a:r>
              <a:rPr sz="1100" u="sng" spc="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allow</a:t>
            </a:r>
            <a:r>
              <a:rPr sz="1100" u="sng" spc="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detection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DCNN.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involves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identifying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filtering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contain </a:t>
            </a:r>
            <a:r>
              <a:rPr sz="1100" dirty="0">
                <a:latin typeface="Times New Roman"/>
                <a:cs typeface="Times New Roman"/>
              </a:rPr>
              <a:t>excessive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amounts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noise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artifacts.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1100" u="sng" spc="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order</a:t>
            </a:r>
            <a:r>
              <a:rPr sz="1100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100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keep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input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filter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automatically reject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blurs,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under- or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overexposed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poorly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images.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occlusions,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based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specialized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hair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mask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non-lesion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artifacts.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major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19" y="6278879"/>
            <a:ext cx="5774435" cy="14798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3139" y="2654571"/>
            <a:ext cx="15748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Times New Roman"/>
                <a:cs typeface="Times New Roman"/>
              </a:rPr>
              <a:t>(i)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5555" y="9219792"/>
            <a:ext cx="3687445" cy="3213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0"/>
              </a:spcBef>
            </a:pPr>
            <a:r>
              <a:rPr sz="1100" spc="-25" dirty="0">
                <a:latin typeface="Arial MT"/>
                <a:cs typeface="Arial MT"/>
              </a:rPr>
              <a:t>24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of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2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 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1383" y="2564025"/>
            <a:ext cx="5356860" cy="2122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8890" indent="-1905" algn="just">
              <a:lnSpc>
                <a:spcPct val="1559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Inpainting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Hair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Removal,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inpainting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 </a:t>
            </a:r>
            <a:r>
              <a:rPr sz="1100" dirty="0">
                <a:latin typeface="Times New Roman"/>
                <a:cs typeface="Times New Roman"/>
              </a:rPr>
              <a:t>kernel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filtering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dark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dermatoscopic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replace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interpolated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pixel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surrounding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pixels</a:t>
            </a:r>
            <a:endParaRPr sz="11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730"/>
              </a:spcBef>
            </a:pPr>
            <a:r>
              <a:rPr sz="1100" dirty="0">
                <a:latin typeface="Times New Roman"/>
                <a:cs typeface="Times New Roman"/>
              </a:rPr>
              <a:t>Bubble/Ruler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Masking</a:t>
            </a:r>
            <a:endParaRPr sz="1100">
              <a:latin typeface="Times New Roman"/>
              <a:cs typeface="Times New Roman"/>
            </a:endParaRPr>
          </a:p>
          <a:p>
            <a:pPr marL="13970" marR="5080" indent="-1905">
              <a:lnSpc>
                <a:spcPct val="1567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Photometric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Distortions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account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differences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camera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conditions </a:t>
            </a:r>
            <a:r>
              <a:rPr sz="1100" dirty="0">
                <a:latin typeface="Times New Roman"/>
                <a:cs typeface="Times New Roman"/>
              </a:rPr>
              <a:t>Geometric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Transformations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dataset.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artificially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increasing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variability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augmentation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techniques,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robustness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generalization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 real-world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instances will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 examples 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different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3345836"/>
            <a:ext cx="234315" cy="81343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100" spc="-20" dirty="0">
                <a:latin typeface="Times New Roman"/>
                <a:cs typeface="Times New Roman"/>
              </a:rPr>
              <a:t>(ii)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spc="-10" dirty="0">
                <a:latin typeface="Times New Roman"/>
                <a:cs typeface="Times New Roman"/>
              </a:rPr>
              <a:t>(iii)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spc="-20" dirty="0">
                <a:latin typeface="Times New Roman"/>
                <a:cs typeface="Times New Roman"/>
              </a:rPr>
              <a:t>(iv)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2908" y="5185305"/>
            <a:ext cx="5356225" cy="804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55000"/>
              </a:lnSpc>
              <a:spcBef>
                <a:spcPts val="85"/>
              </a:spcBef>
            </a:pPr>
            <a:r>
              <a:rPr sz="1100" dirty="0">
                <a:latin typeface="Times New Roman"/>
                <a:cs typeface="Times New Roman"/>
              </a:rPr>
              <a:t>types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transformations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augmented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include: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upward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downward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flipping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images;,rotation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images,zooming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cropping,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spatial </a:t>
            </a:r>
            <a:r>
              <a:rPr sz="1100" dirty="0">
                <a:latin typeface="Times New Roman"/>
                <a:cs typeface="Times New Roman"/>
              </a:rPr>
              <a:t>transformation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Gaussian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blurring.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5132" y="7964187"/>
            <a:ext cx="268097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4.3.2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Quality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5" y="757728"/>
            <a:ext cx="5374640" cy="173926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725"/>
              </a:spcBef>
            </a:pPr>
            <a:r>
              <a:rPr sz="1300" b="1" dirty="0">
                <a:latin typeface="Times New Roman"/>
                <a:cs typeface="Times New Roman"/>
              </a:rPr>
              <a:t>CHAPTER </a:t>
            </a:r>
            <a:r>
              <a:rPr sz="1300" b="1" spc="-50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  <a:p>
            <a:pPr marR="81915" algn="ctr">
              <a:lnSpc>
                <a:spcPct val="100000"/>
              </a:lnSpc>
              <a:spcBef>
                <a:spcPts val="900"/>
              </a:spcBef>
            </a:pPr>
            <a:r>
              <a:rPr sz="1850" b="1" dirty="0">
                <a:latin typeface="Times New Roman"/>
                <a:cs typeface="Times New Roman"/>
              </a:rPr>
              <a:t>Result</a:t>
            </a:r>
            <a:r>
              <a:rPr sz="1850" b="1" spc="1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and</a:t>
            </a:r>
            <a:r>
              <a:rPr sz="1850" b="1" spc="3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Testing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300" b="1" dirty="0">
                <a:latin typeface="Times New Roman"/>
                <a:cs typeface="Times New Roman"/>
              </a:rPr>
              <a:t>5.1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Baseline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model</a:t>
            </a:r>
            <a:endParaRPr sz="1300">
              <a:latin typeface="Times New Roman"/>
              <a:cs typeface="Times New Roman"/>
            </a:endParaRPr>
          </a:p>
          <a:p>
            <a:pPr marL="21590" marR="5080">
              <a:lnSpc>
                <a:spcPts val="264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baseline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eventual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advantageous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4495" y="5617227"/>
            <a:ext cx="5353050" cy="3147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8580" algn="ctr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5.1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5.1.1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Results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Initial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model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training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You've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done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Initial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Training: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(Simple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CNNN).</a:t>
            </a:r>
            <a:endParaRPr sz="1100">
              <a:latin typeface="Times New Roman"/>
              <a:cs typeface="Times New Roman"/>
            </a:endParaRPr>
          </a:p>
          <a:p>
            <a:pPr marL="26034" marR="563245" indent="-5080">
              <a:lnSpc>
                <a:spcPct val="154500"/>
              </a:lnSpc>
              <a:spcBef>
                <a:spcPts val="1165"/>
              </a:spcBef>
            </a:pP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rudimentary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custom-built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shallow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just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three Convolution</a:t>
            </a:r>
            <a:endParaRPr sz="1100">
              <a:latin typeface="Times New Roman"/>
              <a:cs typeface="Times New Roman"/>
            </a:endParaRPr>
          </a:p>
          <a:p>
            <a:pPr marL="21590" marR="323850">
              <a:lnSpc>
                <a:spcPct val="240899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layers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Layers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pretraining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almost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regularisation.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non-augmented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set.</a:t>
            </a:r>
            <a:endParaRPr sz="1100">
              <a:latin typeface="Times New Roman"/>
              <a:cs typeface="Times New Roman"/>
            </a:endParaRPr>
          </a:p>
          <a:p>
            <a:pPr marL="26034" marR="5080" indent="-5080">
              <a:lnSpc>
                <a:spcPct val="154500"/>
              </a:lnSpc>
              <a:spcBef>
                <a:spcPts val="1165"/>
              </a:spcBef>
            </a:pP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Summary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Loss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Loss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after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last.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0216" y="2656332"/>
            <a:ext cx="2784348" cy="273558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25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495" y="413461"/>
            <a:ext cx="5412105" cy="872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742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850">
              <a:latin typeface="Times New Roman"/>
              <a:cs typeface="Times New Roman"/>
            </a:endParaRPr>
          </a:p>
          <a:p>
            <a:pPr marL="18415" marR="205740" indent="-6350" algn="just">
              <a:lnSpc>
                <a:spcPct val="148200"/>
              </a:lnSpc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Conclusion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Accuracy </a:t>
            </a:r>
            <a:r>
              <a:rPr sz="1100" dirty="0">
                <a:latin typeface="Times New Roman"/>
                <a:cs typeface="Times New Roman"/>
              </a:rPr>
              <a:t>indicates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extreme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overfitting,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inability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generalise;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Transfer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appro-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100">
              <a:latin typeface="Times New Roman"/>
              <a:cs typeface="Times New Roman"/>
            </a:endParaRPr>
          </a:p>
          <a:p>
            <a:pPr marL="2159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ach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architecture.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5.2</a:t>
            </a:r>
            <a:r>
              <a:rPr sz="1300" b="1" spc="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Performance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of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6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AI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model</a:t>
            </a:r>
            <a:endParaRPr sz="1300">
              <a:latin typeface="Times New Roman"/>
              <a:cs typeface="Times New Roman"/>
            </a:endParaRPr>
          </a:p>
          <a:p>
            <a:pPr marL="24765" marR="52069" indent="-6350">
              <a:lnSpc>
                <a:spcPct val="155600"/>
              </a:lnSpc>
              <a:spcBef>
                <a:spcPts val="75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DCNN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specifically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ResNet-50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variant,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performance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baseline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attaining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perfect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Dermpath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 Accuracy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consistent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Dermpath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correctly.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All </a:t>
            </a:r>
            <a:r>
              <a:rPr sz="1100" dirty="0">
                <a:latin typeface="Times New Roman"/>
                <a:cs typeface="Times New Roman"/>
              </a:rPr>
              <a:t>indicators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stable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convergence,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indicating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optimizers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schedules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training.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Figure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illustrates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training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similar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proximity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Training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Loss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Validation </a:t>
            </a:r>
            <a:r>
              <a:rPr sz="1100" dirty="0">
                <a:latin typeface="Times New Roman"/>
                <a:cs typeface="Times New Roman"/>
              </a:rPr>
              <a:t>Loss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curve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convergence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indicates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Generalized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not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excessive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overfitting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augmentation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Regularization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employed.</a:t>
            </a:r>
            <a:endParaRPr sz="1100">
              <a:latin typeface="Times New Roman"/>
              <a:cs typeface="Times New Roman"/>
            </a:endParaRPr>
          </a:p>
          <a:p>
            <a:pPr marL="26034" marR="7620" indent="-5080" algn="just">
              <a:lnSpc>
                <a:spcPct val="155000"/>
              </a:lnSpc>
              <a:spcBef>
                <a:spcPts val="116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fourth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chapter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operational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readiness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AI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confirming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capable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requirements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10" dirty="0">
                <a:latin typeface="Times New Roman"/>
                <a:cs typeface="Times New Roman"/>
              </a:rPr>
              <a:t>world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workflows,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speed,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reliability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robustness.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100">
              <a:latin typeface="Times New Roman"/>
              <a:cs typeface="Times New Roman"/>
            </a:endParaRPr>
          </a:p>
          <a:p>
            <a:pPr marL="2159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Throughput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(Prediction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Speed):</a:t>
            </a:r>
            <a:endParaRPr sz="11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55500"/>
              </a:lnSpc>
              <a:spcBef>
                <a:spcPts val="115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speed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purposes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slow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it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interfere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flow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acceptance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practitioners.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analysis </a:t>
            </a:r>
            <a:r>
              <a:rPr sz="1100" dirty="0">
                <a:latin typeface="Times New Roman"/>
                <a:cs typeface="Times New Roman"/>
              </a:rPr>
              <a:t>above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throughput.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00">
              <a:latin typeface="Times New Roman"/>
              <a:cs typeface="Times New Roman"/>
            </a:endParaRPr>
          </a:p>
          <a:p>
            <a:pPr marL="2159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Measures:</a:t>
            </a:r>
            <a:endParaRPr sz="11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55200"/>
              </a:lnSpc>
              <a:spcBef>
                <a:spcPts val="980"/>
              </a:spcBef>
            </a:pP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total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uploaded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(this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time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uploaded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inference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machine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(XAI)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heatmap).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26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9" y="413461"/>
            <a:ext cx="5405120" cy="819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850">
              <a:latin typeface="Times New Roman"/>
              <a:cs typeface="Times New Roman"/>
            </a:endParaRPr>
          </a:p>
          <a:p>
            <a:pPr marL="17145" marR="9525" indent="-5080" algn="just">
              <a:lnSpc>
                <a:spcPct val="155500"/>
              </a:lnSpc>
            </a:pPr>
            <a:r>
              <a:rPr sz="1100" dirty="0">
                <a:latin typeface="Times New Roman"/>
                <a:cs typeface="Times New Roman"/>
              </a:rPr>
              <a:t>Mean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Inference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Time: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inference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seconds,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latency </a:t>
            </a:r>
            <a:r>
              <a:rPr sz="1100" dirty="0">
                <a:latin typeface="Times New Roman"/>
                <a:cs typeface="Times New Roman"/>
              </a:rPr>
              <a:t>associated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95th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percentile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recorded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seconds.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such,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aforementioned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indicate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stringent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seconds</a:t>
            </a:r>
            <a:endParaRPr sz="1100">
              <a:latin typeface="Times New Roman"/>
              <a:cs typeface="Times New Roman"/>
            </a:endParaRPr>
          </a:p>
          <a:p>
            <a:pPr marL="17145" marR="10160" indent="-5080" algn="just">
              <a:lnSpc>
                <a:spcPct val="154500"/>
              </a:lnSpc>
              <a:spcBef>
                <a:spcPts val="1165"/>
              </a:spcBef>
            </a:pP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therefore,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eventual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associated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hardware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T4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GPU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optimised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CPU)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applications.</a:t>
            </a:r>
            <a:endParaRPr sz="1100">
              <a:latin typeface="Times New Roman"/>
              <a:cs typeface="Times New Roman"/>
            </a:endParaRPr>
          </a:p>
          <a:p>
            <a:pPr marL="17145" marR="12065" indent="-5080" algn="just">
              <a:lnSpc>
                <a:spcPct val="155900"/>
              </a:lnSpc>
              <a:spcBef>
                <a:spcPts val="1135"/>
              </a:spcBef>
            </a:pPr>
            <a:r>
              <a:rPr sz="1100" dirty="0">
                <a:latin typeface="Times New Roman"/>
                <a:cs typeface="Times New Roman"/>
              </a:rPr>
              <a:t>Throughput: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peak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throughput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minute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indicating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requests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5.3</a:t>
            </a:r>
            <a:r>
              <a:rPr sz="1300" b="1" spc="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Robusteness</a:t>
            </a:r>
            <a:r>
              <a:rPr sz="1300" b="1" spc="-10" dirty="0">
                <a:latin typeface="Times New Roman"/>
                <a:cs typeface="Times New Roman"/>
              </a:rPr>
              <a:t> Testing</a:t>
            </a:r>
            <a:endParaRPr sz="13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6000"/>
              </a:lnSpc>
              <a:spcBef>
                <a:spcPts val="127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degrading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sample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dataset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imaging,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formalized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presented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utilizing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(CNN)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technology.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degradation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simulates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commonly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occurring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imperfections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photographic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images, </a:t>
            </a:r>
            <a:r>
              <a:rPr sz="1100" dirty="0">
                <a:latin typeface="Times New Roman"/>
                <a:cs typeface="Times New Roman"/>
              </a:rPr>
              <a:t>including: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Gaussian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noise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pollution,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noise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added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image, </a:t>
            </a:r>
            <a:r>
              <a:rPr sz="1100" dirty="0">
                <a:latin typeface="Times New Roman"/>
                <a:cs typeface="Times New Roman"/>
              </a:rPr>
              <a:t>simulating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low-quality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camera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sensors,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electrical </a:t>
            </a:r>
            <a:r>
              <a:rPr sz="1100" dirty="0">
                <a:latin typeface="Times New Roman"/>
                <a:cs typeface="Times New Roman"/>
              </a:rPr>
              <a:t>noise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vibration;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average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noise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severity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simulated,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i.e.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(low,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medium, </a:t>
            </a:r>
            <a:r>
              <a:rPr sz="1100" dirty="0">
                <a:latin typeface="Times New Roman"/>
                <a:cs typeface="Times New Roman"/>
              </a:rPr>
              <a:t>high).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Decreased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Brightness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Contrast;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contrast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brightness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are </a:t>
            </a:r>
            <a:r>
              <a:rPr sz="1100" dirty="0">
                <a:latin typeface="Times New Roman"/>
                <a:cs typeface="Times New Roman"/>
              </a:rPr>
              <a:t>reduced,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poor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and/or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exposure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settings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features/details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nature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edges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differences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lesion;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Creation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Compression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Artifacts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simulated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saving/re-saving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multiple </a:t>
            </a:r>
            <a:r>
              <a:rPr sz="1100" dirty="0">
                <a:latin typeface="Times New Roman"/>
                <a:cs typeface="Times New Roman"/>
              </a:rPr>
              <a:t>times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utilizing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compression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"extreme"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compression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settings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JPEG)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replicate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having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shared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communicated </a:t>
            </a:r>
            <a:r>
              <a:rPr sz="1100" dirty="0">
                <a:latin typeface="Times New Roman"/>
                <a:cs typeface="Times New Roman"/>
              </a:rPr>
              <a:t>digitally,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whereby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now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"compressed"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digitally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shared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communicated..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5.4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System </a:t>
            </a:r>
            <a:r>
              <a:rPr sz="1300" b="1" spc="-10" dirty="0">
                <a:latin typeface="Times New Roman"/>
                <a:cs typeface="Times New Roman"/>
              </a:rPr>
              <a:t>Testing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27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28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7196" y="854963"/>
          <a:ext cx="546608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655">
                <a:tc>
                  <a:txBody>
                    <a:bodyPr/>
                    <a:lstStyle/>
                    <a:p>
                      <a:pPr marL="3175" algn="ctr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case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190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190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Expected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190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19050">
                      <a:solidFill>
                        <a:srgbClr val="8EAA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91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upload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190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uploads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skin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image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190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displayed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preview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190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preview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shown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190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005">
                <a:tc>
                  <a:txBody>
                    <a:bodyPr/>
                    <a:lstStyle/>
                    <a:p>
                      <a:pPr marL="5715"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Preprocessing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Low-quality</a:t>
                      </a:r>
                      <a:r>
                        <a:rPr sz="11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image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Enhanced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resized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image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improved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pPr marL="635"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Eczema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image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Disease:</a:t>
                      </a:r>
                      <a:r>
                        <a:rPr sz="11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Eczema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35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(Confidence:</a:t>
                      </a:r>
                      <a:r>
                        <a:rPr sz="11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95%)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prediction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83639" y="3621970"/>
            <a:ext cx="5363210" cy="496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5080" indent="-5080">
              <a:lnSpc>
                <a:spcPct val="153100"/>
              </a:lnSpc>
              <a:spcBef>
                <a:spcPts val="95"/>
              </a:spcBef>
            </a:pPr>
            <a:r>
              <a:rPr sz="1300" dirty="0">
                <a:latin typeface="Times New Roman"/>
                <a:cs typeface="Times New Roman"/>
              </a:rPr>
              <a:t>all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modules are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passed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both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functional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 integration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testing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end to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end </a:t>
            </a:r>
            <a:r>
              <a:rPr sz="1300" spc="-10" dirty="0">
                <a:latin typeface="Times New Roman"/>
                <a:cs typeface="Times New Roman"/>
              </a:rPr>
              <a:t>system stability.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Times New Roman"/>
                <a:cs typeface="Times New Roman"/>
              </a:rPr>
              <a:t>5.5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Testing</a:t>
            </a:r>
            <a:r>
              <a:rPr sz="1300" b="1" spc="-5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Methodology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comprised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system::</a:t>
            </a:r>
            <a:endParaRPr sz="1100">
              <a:latin typeface="Times New Roman"/>
              <a:cs typeface="Times New Roman"/>
            </a:endParaRPr>
          </a:p>
          <a:p>
            <a:pPr marL="647065" indent="-213995">
              <a:lnSpc>
                <a:spcPct val="100000"/>
              </a:lnSpc>
              <a:spcBef>
                <a:spcPts val="915"/>
              </a:spcBef>
              <a:buFont typeface="Calibri"/>
              <a:buAutoNum type="arabicPeriod"/>
              <a:tabLst>
                <a:tab pos="647065" algn="l"/>
              </a:tabLst>
            </a:pPr>
            <a:r>
              <a:rPr sz="1100" b="1" dirty="0">
                <a:latin typeface="Times New Roman"/>
                <a:cs typeface="Times New Roman"/>
              </a:rPr>
              <a:t>Dataset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Testing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(Offline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Model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Evaluation):</a:t>
            </a:r>
            <a:endParaRPr sz="1100">
              <a:latin typeface="Times New Roman"/>
              <a:cs typeface="Times New Roman"/>
            </a:endParaRPr>
          </a:p>
          <a:p>
            <a:pPr marL="1118870" marR="15240" lvl="1" indent="-215265">
              <a:lnSpc>
                <a:spcPct val="110900"/>
              </a:lnSpc>
              <a:spcBef>
                <a:spcPts val="35"/>
              </a:spcBef>
              <a:buSzPct val="90909"/>
              <a:buFont typeface="Arial MT"/>
              <a:buChar char="•"/>
              <a:tabLst>
                <a:tab pos="1118870" algn="l"/>
              </a:tabLst>
            </a:pPr>
            <a:r>
              <a:rPr sz="1100" dirty="0">
                <a:latin typeface="Times New Roman"/>
                <a:cs typeface="Times New Roman"/>
              </a:rPr>
              <a:t>Unseen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public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(HAM10000, </a:t>
            </a:r>
            <a:r>
              <a:rPr sz="1100" dirty="0">
                <a:latin typeface="Times New Roman"/>
                <a:cs typeface="Times New Roman"/>
              </a:rPr>
              <a:t>ISIC)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CNN).</a:t>
            </a:r>
            <a:endParaRPr sz="1100">
              <a:latin typeface="Times New Roman"/>
              <a:cs typeface="Times New Roman"/>
            </a:endParaRPr>
          </a:p>
          <a:p>
            <a:pPr marL="1118870" marR="17145" lvl="1" indent="-215265">
              <a:lnSpc>
                <a:spcPct val="110000"/>
              </a:lnSpc>
              <a:spcBef>
                <a:spcPts val="25"/>
              </a:spcBef>
              <a:buSzPct val="90909"/>
              <a:buFont typeface="Arial MT"/>
              <a:buChar char="•"/>
              <a:tabLst>
                <a:tab pos="111887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precision,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F1-score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measured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models.</a:t>
            </a:r>
            <a:endParaRPr sz="1100">
              <a:latin typeface="Times New Roman"/>
              <a:cs typeface="Times New Roman"/>
            </a:endParaRPr>
          </a:p>
          <a:p>
            <a:pPr marL="647065" indent="-213995">
              <a:lnSpc>
                <a:spcPct val="100000"/>
              </a:lnSpc>
              <a:spcBef>
                <a:spcPts val="285"/>
              </a:spcBef>
              <a:buFont typeface="Calibri"/>
              <a:buAutoNum type="arabicPeriod"/>
              <a:tabLst>
                <a:tab pos="647065" algn="l"/>
              </a:tabLst>
            </a:pPr>
            <a:r>
              <a:rPr sz="1100" b="1" dirty="0">
                <a:latin typeface="Times New Roman"/>
                <a:cs typeface="Times New Roman"/>
              </a:rPr>
              <a:t>Functional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Testing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(System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Verification):</a:t>
            </a:r>
            <a:endParaRPr sz="1100">
              <a:latin typeface="Times New Roman"/>
              <a:cs typeface="Times New Roman"/>
            </a:endParaRPr>
          </a:p>
          <a:p>
            <a:pPr marL="688975">
              <a:lnSpc>
                <a:spcPct val="100000"/>
              </a:lnSpc>
              <a:spcBef>
                <a:spcPts val="204"/>
              </a:spcBef>
            </a:pPr>
            <a:r>
              <a:rPr sz="1100" dirty="0">
                <a:latin typeface="Times New Roman"/>
                <a:cs typeface="Times New Roman"/>
              </a:rPr>
              <a:t>Independent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(image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upload</a:t>
            </a:r>
            <a:endParaRPr sz="1100">
              <a:latin typeface="Times New Roman"/>
              <a:cs typeface="Times New Roman"/>
            </a:endParaRPr>
          </a:p>
          <a:p>
            <a:pPr marL="658495" algn="just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latin typeface="Times New Roman"/>
                <a:cs typeface="Times New Roman"/>
              </a:rPr>
              <a:t>module,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preprocessing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module,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4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classification,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5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result</a:t>
            </a:r>
            <a:endParaRPr sz="1100">
              <a:latin typeface="Times New Roman"/>
              <a:cs typeface="Times New Roman"/>
            </a:endParaRPr>
          </a:p>
          <a:p>
            <a:pPr marL="658495" marR="15875" algn="just">
              <a:lnSpc>
                <a:spcPct val="1555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visualisation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module)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conducted.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combined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complete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entity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system's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function.</a:t>
            </a:r>
            <a:endParaRPr sz="1100">
              <a:latin typeface="Times New Roman"/>
              <a:cs typeface="Times New Roman"/>
            </a:endParaRPr>
          </a:p>
          <a:p>
            <a:pPr marL="647065" indent="-213995" algn="just">
              <a:lnSpc>
                <a:spcPct val="100000"/>
              </a:lnSpc>
              <a:spcBef>
                <a:spcPts val="915"/>
              </a:spcBef>
              <a:buFont typeface="Calibri"/>
              <a:buAutoNum type="arabicPeriod" startAt="3"/>
              <a:tabLst>
                <a:tab pos="647065" algn="l"/>
              </a:tabLst>
            </a:pP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Interface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Usability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Testing:</a:t>
            </a:r>
            <a:endParaRPr sz="1100">
              <a:latin typeface="Times New Roman"/>
              <a:cs typeface="Times New Roman"/>
            </a:endParaRPr>
          </a:p>
          <a:p>
            <a:pPr marL="688975" algn="just">
              <a:lnSpc>
                <a:spcPct val="100000"/>
              </a:lnSpc>
              <a:spcBef>
                <a:spcPts val="200"/>
              </a:spcBef>
            </a:pP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usability,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speed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  <a:p>
            <a:pPr marL="696595" marR="14604" algn="just">
              <a:lnSpc>
                <a:spcPct val="1550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response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 interactions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 handling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errors;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Additionally,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testing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(desktop/mobile)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has </a:t>
            </a:r>
            <a:r>
              <a:rPr sz="1100" dirty="0">
                <a:latin typeface="Times New Roman"/>
                <a:cs typeface="Times New Roman"/>
              </a:rPr>
              <a:t>ensured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consistency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maintained.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29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3639" y="831943"/>
            <a:ext cx="178816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latin typeface="Times New Roman"/>
                <a:cs typeface="Times New Roman"/>
              </a:rPr>
              <a:t>5.5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Performance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Metrics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87196" y="1303019"/>
          <a:ext cx="5466080" cy="3723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2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5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020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Metric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190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190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Formula/Bias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190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19050">
                      <a:solidFill>
                        <a:srgbClr val="8EAA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190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Percentage of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correct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4445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predictions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190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(TP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TN)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(TP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FP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TN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FN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190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190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4085">
                <a:tc>
                  <a:txBody>
                    <a:bodyPr/>
                    <a:lstStyle/>
                    <a:p>
                      <a:pPr marR="401320" algn="r">
                        <a:lnSpc>
                          <a:spcPts val="129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Precision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predicted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2600" marR="227329" indent="-291465">
                        <a:lnSpc>
                          <a:spcPts val="205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positives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1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truly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positive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TP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(TP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FP)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ts val="1295"/>
                        </a:lnSpc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marR="35560" algn="ctr">
                        <a:lnSpc>
                          <a:spcPts val="129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Recall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Ability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2984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positives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TP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(TP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FN)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ts val="1295"/>
                        </a:lnSpc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0910">
                <a:tc>
                  <a:txBody>
                    <a:bodyPr/>
                    <a:lstStyle/>
                    <a:p>
                      <a:pPr marR="398780" algn="r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F1-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Score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6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Harmonic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00685" marR="236220" indent="-213360">
                        <a:lnSpc>
                          <a:spcPct val="15360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Precision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Recall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3C4E6"/>
                      </a:solidFill>
                      <a:prstDash val="solid"/>
                    </a:lnL>
                    <a:lnR w="6350">
                      <a:solidFill>
                        <a:srgbClr val="B3C4E6"/>
                      </a:solidFill>
                      <a:prstDash val="solid"/>
                    </a:lnR>
                    <a:lnT w="6350">
                      <a:solidFill>
                        <a:srgbClr val="B3C4E6"/>
                      </a:solidFill>
                      <a:prstDash val="solid"/>
                    </a:lnT>
                    <a:lnB w="6350">
                      <a:solidFill>
                        <a:srgbClr val="B3C4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30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5" y="757728"/>
            <a:ext cx="5360670" cy="836993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57785" algn="ctr">
              <a:lnSpc>
                <a:spcPct val="100000"/>
              </a:lnSpc>
              <a:spcBef>
                <a:spcPts val="725"/>
              </a:spcBef>
            </a:pPr>
            <a:r>
              <a:rPr sz="1300" b="1" dirty="0">
                <a:latin typeface="Times New Roman"/>
                <a:cs typeface="Times New Roman"/>
              </a:rPr>
              <a:t>CHAPTER </a:t>
            </a:r>
            <a:r>
              <a:rPr sz="1300" b="1" spc="-50" dirty="0">
                <a:latin typeface="Times New Roman"/>
                <a:cs typeface="Times New Roman"/>
              </a:rPr>
              <a:t>6</a:t>
            </a:r>
            <a:endParaRPr sz="1300">
              <a:latin typeface="Times New Roman"/>
              <a:cs typeface="Times New Roman"/>
            </a:endParaRPr>
          </a:p>
          <a:p>
            <a:pPr marL="86995" algn="ctr">
              <a:lnSpc>
                <a:spcPct val="100000"/>
              </a:lnSpc>
              <a:spcBef>
                <a:spcPts val="900"/>
              </a:spcBef>
            </a:pPr>
            <a:r>
              <a:rPr sz="1850" b="1" spc="-10" dirty="0">
                <a:latin typeface="Times New Roman"/>
                <a:cs typeface="Times New Roman"/>
              </a:rPr>
              <a:t>APPLICATIONS</a:t>
            </a:r>
            <a:endParaRPr sz="1850">
              <a:latin typeface="Times New Roman"/>
              <a:cs typeface="Times New Roman"/>
            </a:endParaRPr>
          </a:p>
          <a:p>
            <a:pPr marL="260350" lvl="1" indent="-247650" algn="just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60350" algn="l"/>
              </a:tabLst>
            </a:pPr>
            <a:r>
              <a:rPr sz="1300" b="1" dirty="0">
                <a:latin typeface="Times New Roman"/>
                <a:cs typeface="Times New Roman"/>
              </a:rPr>
              <a:t>Tele-dermatology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Remote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Healthcare</a:t>
            </a:r>
            <a:endParaRPr sz="1300">
              <a:latin typeface="Times New Roman"/>
              <a:cs typeface="Times New Roman"/>
            </a:endParaRPr>
          </a:p>
          <a:p>
            <a:pPr marL="26034" marR="5080" indent="30480" algn="just">
              <a:lnSpc>
                <a:spcPct val="147300"/>
              </a:lnSpc>
              <a:spcBef>
                <a:spcPts val="700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consultation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telemedicine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dermatologist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utilize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(AI)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established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telemedicine platform.</a:t>
            </a:r>
            <a:endParaRPr sz="1100">
              <a:latin typeface="Times New Roman"/>
              <a:cs typeface="Times New Roman"/>
            </a:endParaRPr>
          </a:p>
          <a:p>
            <a:pPr marL="26034" marR="6350" indent="-5080" algn="just">
              <a:lnSpc>
                <a:spcPct val="14640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quick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diagnoses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living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rural/post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rural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otherwise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underserved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hospital.</a:t>
            </a:r>
            <a:endParaRPr sz="1100">
              <a:latin typeface="Times New Roman"/>
              <a:cs typeface="Times New Roman"/>
            </a:endParaRPr>
          </a:p>
          <a:p>
            <a:pPr marL="24765" marR="504825" indent="-6350" algn="just">
              <a:lnSpc>
                <a:spcPct val="148200"/>
              </a:lnSpc>
              <a:spcBef>
                <a:spcPts val="135"/>
              </a:spcBef>
            </a:pP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allows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offload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time-consuming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pre- </a:t>
            </a:r>
            <a:r>
              <a:rPr sz="1100" dirty="0">
                <a:latin typeface="Times New Roman"/>
                <a:cs typeface="Times New Roman"/>
              </a:rPr>
              <a:t>screening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reviewed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dermatologist.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Times New Roman"/>
              <a:cs typeface="Times New Roman"/>
            </a:endParaRPr>
          </a:p>
          <a:p>
            <a:pPr marL="263525" lvl="1" indent="-25082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63525" algn="l"/>
              </a:tabLst>
            </a:pPr>
            <a:r>
              <a:rPr sz="1300" b="1" dirty="0">
                <a:latin typeface="Times New Roman"/>
                <a:cs typeface="Times New Roman"/>
              </a:rPr>
              <a:t>Mobile</a:t>
            </a:r>
            <a:r>
              <a:rPr sz="1300" b="1" spc="5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Health</a:t>
            </a:r>
            <a:endParaRPr sz="1300">
              <a:latin typeface="Times New Roman"/>
              <a:cs typeface="Times New Roman"/>
            </a:endParaRPr>
          </a:p>
          <a:p>
            <a:pPr marL="26034" marR="57785" indent="-5080">
              <a:lnSpc>
                <a:spcPct val="147300"/>
              </a:lnSpc>
              <a:spcBef>
                <a:spcPts val="70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available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(mHealth)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mHealth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analyze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smartphone..</a:t>
            </a:r>
            <a:endParaRPr sz="1100">
              <a:latin typeface="Times New Roman"/>
              <a:cs typeface="Times New Roman"/>
            </a:endParaRPr>
          </a:p>
          <a:p>
            <a:pPr marL="26034" marR="200660" indent="-5080">
              <a:lnSpc>
                <a:spcPct val="146400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Feedback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individual,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monitor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easily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traveling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doctor’s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office.</a:t>
            </a:r>
            <a:endParaRPr sz="1100">
              <a:latin typeface="Times New Roman"/>
              <a:cs typeface="Times New Roman"/>
            </a:endParaRPr>
          </a:p>
          <a:p>
            <a:pPr marL="26034" marR="67945" indent="-5080">
              <a:lnSpc>
                <a:spcPct val="14550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individuals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ownership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self-assessment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detect </a:t>
            </a:r>
            <a:r>
              <a:rPr sz="1100" dirty="0">
                <a:latin typeface="Times New Roman"/>
                <a:cs typeface="Times New Roman"/>
              </a:rPr>
              <a:t>problematic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manageable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100">
              <a:latin typeface="Times New Roman"/>
              <a:cs typeface="Times New Roman"/>
            </a:endParaRPr>
          </a:p>
          <a:p>
            <a:pPr marL="271145" lvl="1" indent="-249554">
              <a:lnSpc>
                <a:spcPct val="100000"/>
              </a:lnSpc>
              <a:buAutoNum type="arabicPeriod" startAt="3"/>
              <a:tabLst>
                <a:tab pos="271145" algn="l"/>
              </a:tabLst>
            </a:pPr>
            <a:r>
              <a:rPr sz="1300" b="1" dirty="0">
                <a:latin typeface="Times New Roman"/>
                <a:cs typeface="Times New Roman"/>
              </a:rPr>
              <a:t>Clinical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Decision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Support</a:t>
            </a:r>
            <a:r>
              <a:rPr sz="1300" b="1" spc="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Systems</a:t>
            </a:r>
            <a:endParaRPr sz="13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Times New Roman"/>
              <a:buAutoNum type="arabicPeriod" startAt="3"/>
            </a:pPr>
            <a:endParaRPr sz="1300">
              <a:latin typeface="Times New Roman"/>
              <a:cs typeface="Times New Roman"/>
            </a:endParaRPr>
          </a:p>
          <a:p>
            <a:pPr marL="26034" marR="6985" indent="-5080" algn="just">
              <a:lnSpc>
                <a:spcPct val="147700"/>
              </a:lnSpc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useful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enhancement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help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clarify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Differential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suggested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possibilities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lesion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characteristics.</a:t>
            </a:r>
            <a:endParaRPr sz="1100">
              <a:latin typeface="Times New Roman"/>
              <a:cs typeface="Times New Roman"/>
            </a:endParaRPr>
          </a:p>
          <a:p>
            <a:pPr marL="26034" marR="8255" indent="-5080" algn="just">
              <a:lnSpc>
                <a:spcPct val="149100"/>
              </a:lnSpc>
              <a:spcBef>
                <a:spcPts val="110"/>
              </a:spcBef>
            </a:pPr>
            <a:r>
              <a:rPr sz="1100" dirty="0">
                <a:latin typeface="Times New Roman"/>
                <a:cs typeface="Times New Roman"/>
              </a:rPr>
              <a:t>Interns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Practitioners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useful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Educational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reference.</a:t>
            </a:r>
            <a:endParaRPr sz="1100">
              <a:latin typeface="Times New Roman"/>
              <a:cs typeface="Times New Roman"/>
            </a:endParaRPr>
          </a:p>
          <a:p>
            <a:pPr marL="21590" algn="just">
              <a:lnSpc>
                <a:spcPct val="100000"/>
              </a:lnSpc>
              <a:spcBef>
                <a:spcPts val="76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Subjectivity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judgments.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100">
              <a:latin typeface="Times New Roman"/>
              <a:cs typeface="Times New Roman"/>
            </a:endParaRPr>
          </a:p>
          <a:p>
            <a:pPr marL="271145" lvl="1" indent="-249554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71145" algn="l"/>
              </a:tabLst>
            </a:pPr>
            <a:r>
              <a:rPr sz="1300" b="1" dirty="0">
                <a:latin typeface="Times New Roman"/>
                <a:cs typeface="Times New Roman"/>
              </a:rPr>
              <a:t>Hosiptal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 Diagnostic</a:t>
            </a:r>
            <a:r>
              <a:rPr sz="1300" b="1" spc="5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Centers</a:t>
            </a:r>
            <a:endParaRPr sz="1300">
              <a:latin typeface="Times New Roman"/>
              <a:cs typeface="Times New Roman"/>
            </a:endParaRPr>
          </a:p>
          <a:p>
            <a:pPr marL="26034" marR="55244" indent="-5080">
              <a:lnSpc>
                <a:spcPct val="147300"/>
              </a:lnSpc>
              <a:spcBef>
                <a:spcPts val="330"/>
              </a:spcBef>
            </a:pPr>
            <a:r>
              <a:rPr sz="1100" dirty="0">
                <a:latin typeface="Times New Roman"/>
                <a:cs typeface="Times New Roman"/>
              </a:rPr>
              <a:t>Interns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Practitioners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useful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Educational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reference.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9" y="413461"/>
            <a:ext cx="5387340" cy="79540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850">
              <a:latin typeface="Times New Roman"/>
              <a:cs typeface="Times New Roman"/>
            </a:endParaRPr>
          </a:p>
          <a:p>
            <a:pPr marL="17145" marR="72390" indent="-5080">
              <a:lnSpc>
                <a:spcPct val="1464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Hospitals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Centres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automatically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triage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cases.</a:t>
            </a:r>
            <a:endParaRPr sz="1100">
              <a:latin typeface="Times New Roman"/>
              <a:cs typeface="Times New Roman"/>
            </a:endParaRPr>
          </a:p>
          <a:p>
            <a:pPr marL="17145" marR="187960" indent="-5080">
              <a:lnSpc>
                <a:spcPct val="1491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Automated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Triage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faster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serious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skin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Melanoma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psoriasis.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100">
              <a:latin typeface="Times New Roman"/>
              <a:cs typeface="Times New Roman"/>
            </a:endParaRPr>
          </a:p>
          <a:p>
            <a:pPr marL="262255" lvl="1" indent="-249554" algn="just">
              <a:lnSpc>
                <a:spcPct val="100000"/>
              </a:lnSpc>
              <a:buAutoNum type="arabicPeriod" startAt="5"/>
              <a:tabLst>
                <a:tab pos="262255" algn="l"/>
              </a:tabLst>
            </a:pPr>
            <a:r>
              <a:rPr sz="1300" b="1" dirty="0">
                <a:latin typeface="Times New Roman"/>
                <a:cs typeface="Times New Roman"/>
              </a:rPr>
              <a:t>Research</a:t>
            </a:r>
            <a:r>
              <a:rPr sz="1300" b="1" spc="-6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Medical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Education</a:t>
            </a:r>
            <a:endParaRPr sz="1300">
              <a:latin typeface="Times New Roman"/>
              <a:cs typeface="Times New Roman"/>
            </a:endParaRPr>
          </a:p>
          <a:p>
            <a:pPr marL="12700" marR="95885">
              <a:lnSpc>
                <a:spcPct val="147300"/>
              </a:lnSpc>
              <a:spcBef>
                <a:spcPts val="1305"/>
              </a:spcBef>
            </a:pP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researchers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powerful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large-scale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pattern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recognition.</a:t>
            </a:r>
            <a:endParaRPr sz="1100">
              <a:latin typeface="Times New Roman"/>
              <a:cs typeface="Times New Roman"/>
            </a:endParaRPr>
          </a:p>
          <a:p>
            <a:pPr marL="17145" marR="74295" indent="-5080">
              <a:lnSpc>
                <a:spcPct val="1491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educational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assists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comprehending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how </a:t>
            </a:r>
            <a:r>
              <a:rPr sz="1100" dirty="0">
                <a:latin typeface="Times New Roman"/>
                <a:cs typeface="Times New Roman"/>
              </a:rPr>
              <a:t>diseases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appear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AI-based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function.</a:t>
            </a:r>
            <a:endParaRPr sz="1100">
              <a:latin typeface="Times New Roman"/>
              <a:cs typeface="Times New Roman"/>
            </a:endParaRPr>
          </a:p>
          <a:p>
            <a:pPr marL="17145" marR="71120" indent="-5080">
              <a:lnSpc>
                <a:spcPct val="147000"/>
              </a:lnSpc>
              <a:spcBef>
                <a:spcPts val="235"/>
              </a:spcBef>
            </a:pP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facilitates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ability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conduct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data-based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research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identify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prevalence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diseases, </a:t>
            </a:r>
            <a:r>
              <a:rPr sz="1000" dirty="0">
                <a:latin typeface="Times New Roman"/>
                <a:cs typeface="Times New Roman"/>
              </a:rPr>
              <a:t>determine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results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treated/untreated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patient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0">
              <a:latin typeface="Times New Roman"/>
              <a:cs typeface="Times New Roman"/>
            </a:endParaRPr>
          </a:p>
          <a:p>
            <a:pPr marL="262255" lvl="1" indent="-249554" algn="just">
              <a:lnSpc>
                <a:spcPct val="100000"/>
              </a:lnSpc>
              <a:buAutoNum type="arabicPeriod" startAt="6"/>
              <a:tabLst>
                <a:tab pos="262255" algn="l"/>
              </a:tabLst>
            </a:pPr>
            <a:r>
              <a:rPr sz="1300" b="1" dirty="0">
                <a:latin typeface="Times New Roman"/>
                <a:cs typeface="Times New Roman"/>
              </a:rPr>
              <a:t>public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health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early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screening</a:t>
            </a:r>
            <a:endParaRPr sz="1300">
              <a:latin typeface="Times New Roman"/>
              <a:cs typeface="Times New Roman"/>
            </a:endParaRPr>
          </a:p>
          <a:p>
            <a:pPr marL="17145" marR="77470" indent="-5080">
              <a:lnSpc>
                <a:spcPct val="148200"/>
              </a:lnSpc>
              <a:spcBef>
                <a:spcPts val="1220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community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organisations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diseases.</a:t>
            </a:r>
            <a:endParaRPr sz="1100">
              <a:latin typeface="Times New Roman"/>
              <a:cs typeface="Times New Roman"/>
            </a:endParaRPr>
          </a:p>
          <a:p>
            <a:pPr marL="17145" marR="69850" indent="-5080">
              <a:lnSpc>
                <a:spcPct val="146400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utilised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identification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contagious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seriously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ill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which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outbreaks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complications.</a:t>
            </a:r>
            <a:endParaRPr sz="1100">
              <a:latin typeface="Times New Roman"/>
              <a:cs typeface="Times New Roman"/>
            </a:endParaRPr>
          </a:p>
          <a:p>
            <a:pPr marL="17145" marR="217804" indent="-5080">
              <a:lnSpc>
                <a:spcPct val="147300"/>
              </a:lnSpc>
              <a:spcBef>
                <a:spcPts val="45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cost-effective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means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screenings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schools,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rural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camps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awareness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programmes.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100">
              <a:latin typeface="Times New Roman"/>
              <a:cs typeface="Times New Roman"/>
            </a:endParaRPr>
          </a:p>
          <a:p>
            <a:pPr marL="262255" lvl="1" indent="-249554" algn="just">
              <a:lnSpc>
                <a:spcPct val="100000"/>
              </a:lnSpc>
              <a:buAutoNum type="arabicPeriod" startAt="7"/>
              <a:tabLst>
                <a:tab pos="262255" algn="l"/>
              </a:tabLst>
            </a:pPr>
            <a:r>
              <a:rPr sz="1300" b="1" dirty="0">
                <a:latin typeface="Times New Roman"/>
                <a:cs typeface="Times New Roman"/>
              </a:rPr>
              <a:t>Cloud Based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Diagnostic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Services</a:t>
            </a:r>
            <a:endParaRPr sz="13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latin typeface="Times New Roman"/>
                <a:cs typeface="Times New Roman"/>
              </a:rPr>
              <a:t>Cloud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well</a:t>
            </a:r>
            <a:endParaRPr sz="1100">
              <a:latin typeface="Times New Roman"/>
              <a:cs typeface="Times New Roman"/>
            </a:endParaRPr>
          </a:p>
          <a:p>
            <a:pPr marL="17145" algn="just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information,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anywhere</a:t>
            </a:r>
            <a:r>
              <a:rPr sz="1100" b="1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12700" marR="39370" algn="just">
              <a:lnSpc>
                <a:spcPct val="1477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facilitate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interested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parties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collaborate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long-</a:t>
            </a:r>
            <a:r>
              <a:rPr sz="1100" spc="-20" dirty="0">
                <a:latin typeface="Times New Roman"/>
                <a:cs typeface="Times New Roman"/>
              </a:rPr>
              <a:t>term </a:t>
            </a:r>
            <a:r>
              <a:rPr sz="1100" spc="-10" dirty="0">
                <a:latin typeface="Times New Roman"/>
                <a:cs typeface="Times New Roman"/>
              </a:rPr>
              <a:t>records.</a:t>
            </a:r>
            <a:endParaRPr sz="1100">
              <a:latin typeface="Times New Roman"/>
              <a:cs typeface="Times New Roman"/>
            </a:endParaRPr>
          </a:p>
          <a:p>
            <a:pPr marL="17145" marR="43815" indent="-5080" algn="just">
              <a:lnSpc>
                <a:spcPct val="146400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permit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healthcare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professionals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securely,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economically, </a:t>
            </a:r>
            <a:r>
              <a:rPr sz="1100" dirty="0">
                <a:latin typeface="Times New Roman"/>
                <a:cs typeface="Times New Roman"/>
              </a:rPr>
              <a:t>efficiently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healthcare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services.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31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32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0591" y="711133"/>
            <a:ext cx="5323205" cy="8181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84455" algn="ctr">
              <a:lnSpc>
                <a:spcPct val="100000"/>
              </a:lnSpc>
              <a:spcBef>
                <a:spcPts val="1045"/>
              </a:spcBef>
            </a:pPr>
            <a:r>
              <a:rPr sz="1500" b="1" dirty="0">
                <a:latin typeface="Times New Roman"/>
                <a:cs typeface="Times New Roman"/>
              </a:rPr>
              <a:t>CHAPTER</a:t>
            </a:r>
            <a:r>
              <a:rPr sz="1500" b="1" spc="-70" dirty="0">
                <a:latin typeface="Times New Roman"/>
                <a:cs typeface="Times New Roman"/>
              </a:rPr>
              <a:t> </a:t>
            </a:r>
            <a:r>
              <a:rPr sz="1500" b="1" spc="-50" dirty="0">
                <a:latin typeface="Times New Roman"/>
                <a:cs typeface="Times New Roman"/>
              </a:rPr>
              <a:t>7</a:t>
            </a:r>
            <a:endParaRPr sz="1500">
              <a:latin typeface="Times New Roman"/>
              <a:cs typeface="Times New Roman"/>
            </a:endParaRPr>
          </a:p>
          <a:p>
            <a:pPr marL="38735" algn="ctr">
              <a:lnSpc>
                <a:spcPct val="100000"/>
              </a:lnSpc>
              <a:spcBef>
                <a:spcPts val="950"/>
              </a:spcBef>
            </a:pPr>
            <a:r>
              <a:rPr sz="1500" b="1" dirty="0">
                <a:latin typeface="Times New Roman"/>
                <a:cs typeface="Times New Roman"/>
              </a:rPr>
              <a:t>FUTURE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SCOPE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DISCUSSION</a:t>
            </a:r>
            <a:endParaRPr sz="1500">
              <a:latin typeface="Times New Roman"/>
              <a:cs typeface="Times New Roman"/>
            </a:endParaRPr>
          </a:p>
          <a:p>
            <a:pPr marL="261620" lvl="1" indent="-248920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61620" algn="l"/>
              </a:tabLst>
            </a:pPr>
            <a:r>
              <a:rPr sz="1300" b="1" dirty="0">
                <a:latin typeface="Times New Roman"/>
                <a:cs typeface="Times New Roman"/>
              </a:rPr>
              <a:t>Future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Scope</a:t>
            </a:r>
            <a:endParaRPr sz="13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</a:pPr>
            <a:endParaRPr sz="1300">
              <a:latin typeface="Times New Roman"/>
              <a:cs typeface="Times New Roman"/>
            </a:endParaRPr>
          </a:p>
          <a:p>
            <a:pPr marL="20320" marR="30480" indent="-5080" algn="just">
              <a:lnSpc>
                <a:spcPct val="1473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AI-based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beneficial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healthcare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through </a:t>
            </a:r>
            <a:r>
              <a:rPr sz="1100" dirty="0">
                <a:latin typeface="Times New Roman"/>
                <a:cs typeface="Times New Roman"/>
              </a:rPr>
              <a:t>practical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more </a:t>
            </a:r>
            <a:r>
              <a:rPr sz="1100" dirty="0">
                <a:latin typeface="Times New Roman"/>
                <a:cs typeface="Times New Roman"/>
              </a:rPr>
              <a:t>advances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technology.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100">
              <a:latin typeface="Times New Roman"/>
              <a:cs typeface="Times New Roman"/>
            </a:endParaRPr>
          </a:p>
          <a:p>
            <a:pPr marL="445134" lvl="2" indent="-429895">
              <a:lnSpc>
                <a:spcPct val="100000"/>
              </a:lnSpc>
              <a:buAutoNum type="arabicPeriod"/>
              <a:tabLst>
                <a:tab pos="445134" algn="l"/>
              </a:tabLst>
            </a:pPr>
            <a:r>
              <a:rPr sz="1100" b="1" dirty="0">
                <a:latin typeface="Times New Roman"/>
                <a:cs typeface="Times New Roman"/>
              </a:rPr>
              <a:t>Integration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mobile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platfroms</a:t>
            </a:r>
            <a:endParaRPr sz="1100">
              <a:latin typeface="Times New Roman"/>
              <a:cs typeface="Times New Roman"/>
            </a:endParaRPr>
          </a:p>
          <a:p>
            <a:pPr marL="20320" marR="12065" indent="-5080">
              <a:lnSpc>
                <a:spcPct val="14730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Android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iOS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capture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analyze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smartphones.</a:t>
            </a:r>
            <a:endParaRPr sz="1100">
              <a:latin typeface="Times New Roman"/>
              <a:cs typeface="Times New Roman"/>
            </a:endParaRPr>
          </a:p>
          <a:p>
            <a:pPr marL="20320" marR="10795" indent="-5080">
              <a:lnSpc>
                <a:spcPct val="1473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cloud-based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low- </a:t>
            </a:r>
            <a:r>
              <a:rPr sz="1100" dirty="0">
                <a:latin typeface="Times New Roman"/>
                <a:cs typeface="Times New Roman"/>
              </a:rPr>
              <a:t>power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devices.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Times New Roman"/>
              <a:cs typeface="Times New Roman"/>
            </a:endParaRPr>
          </a:p>
          <a:p>
            <a:pPr marL="445134" lvl="2" indent="-429895">
              <a:lnSpc>
                <a:spcPct val="100000"/>
              </a:lnSpc>
              <a:buAutoNum type="arabicPeriod" startAt="2"/>
              <a:tabLst>
                <a:tab pos="445134" algn="l"/>
              </a:tabLst>
            </a:pPr>
            <a:r>
              <a:rPr sz="1100" b="1" dirty="0">
                <a:latin typeface="Times New Roman"/>
                <a:cs typeface="Times New Roman"/>
              </a:rPr>
              <a:t>Enhanced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dataset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35"/>
              </a:spcBef>
              <a:buFont typeface="Times New Roman"/>
              <a:buAutoNum type="arabicPeriod" startAt="2"/>
            </a:pPr>
            <a:endParaRPr sz="1100">
              <a:latin typeface="Times New Roman"/>
              <a:cs typeface="Times New Roman"/>
            </a:endParaRPr>
          </a:p>
          <a:p>
            <a:pPr marL="20320" marR="5080" indent="-5080">
              <a:lnSpc>
                <a:spcPct val="148200"/>
              </a:lnSpc>
            </a:pPr>
            <a:r>
              <a:rPr sz="1100" dirty="0">
                <a:latin typeface="Times New Roman"/>
                <a:cs typeface="Times New Roman"/>
              </a:rPr>
              <a:t>Expanding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tones,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groups,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geographical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regions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generalization.</a:t>
            </a:r>
            <a:endParaRPr sz="1100">
              <a:latin typeface="Times New Roman"/>
              <a:cs typeface="Times New Roman"/>
            </a:endParaRPr>
          </a:p>
          <a:p>
            <a:pPr marL="20320" marR="5080" indent="-5080">
              <a:lnSpc>
                <a:spcPts val="1970"/>
              </a:lnSpc>
              <a:spcBef>
                <a:spcPts val="150"/>
              </a:spcBef>
            </a:pPr>
            <a:r>
              <a:rPr sz="1100" dirty="0">
                <a:latin typeface="Times New Roman"/>
                <a:cs typeface="Times New Roman"/>
              </a:rPr>
              <a:t>Inclusion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rare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more </a:t>
            </a:r>
            <a:r>
              <a:rPr sz="1100" spc="-10" dirty="0">
                <a:latin typeface="Times New Roman"/>
                <a:cs typeface="Times New Roman"/>
              </a:rPr>
              <a:t>comprehensive.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100">
              <a:latin typeface="Times New Roman"/>
              <a:cs typeface="Times New Roman"/>
            </a:endParaRPr>
          </a:p>
          <a:p>
            <a:pPr marL="445134" lvl="2" indent="-42989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45134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Real-</a:t>
            </a:r>
            <a:r>
              <a:rPr sz="1100" b="1" dirty="0">
                <a:latin typeface="Times New Roman"/>
                <a:cs typeface="Times New Roman"/>
              </a:rPr>
              <a:t>Time Video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69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20320" marR="5080" indent="-508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monitoring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video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ongoing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occurring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lesions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disease.</a:t>
            </a:r>
            <a:endParaRPr sz="1100">
              <a:latin typeface="Times New Roman"/>
              <a:cs typeface="Times New Roman"/>
            </a:endParaRPr>
          </a:p>
          <a:p>
            <a:pPr marL="20320" marR="32384" indent="-5080">
              <a:lnSpc>
                <a:spcPct val="1473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video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benefit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those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chronic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eczema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psoriasi.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Times New Roman"/>
              <a:cs typeface="Times New Roman"/>
            </a:endParaRPr>
          </a:p>
          <a:p>
            <a:pPr marL="300990" lvl="2" indent="-292100">
              <a:lnSpc>
                <a:spcPct val="100000"/>
              </a:lnSpc>
              <a:buAutoNum type="arabicPeriod" startAt="4"/>
              <a:tabLst>
                <a:tab pos="300990" algn="l"/>
              </a:tabLst>
            </a:pPr>
            <a:r>
              <a:rPr sz="1100" b="1" dirty="0">
                <a:latin typeface="Times New Roman"/>
                <a:cs typeface="Times New Roman"/>
              </a:rPr>
              <a:t>Multimodal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Input</a:t>
            </a:r>
            <a:r>
              <a:rPr sz="1100" b="1" spc="114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Integration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20955">
              <a:lnSpc>
                <a:spcPct val="148200"/>
              </a:lnSpc>
            </a:pPr>
            <a:r>
              <a:rPr sz="1100" dirty="0">
                <a:latin typeface="Times New Roman"/>
                <a:cs typeface="Times New Roman"/>
              </a:rPr>
              <a:t>Combining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photographic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(age,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sex, </a:t>
            </a:r>
            <a:r>
              <a:rPr sz="1100" dirty="0">
                <a:latin typeface="Times New Roman"/>
                <a:cs typeface="Times New Roman"/>
              </a:rPr>
              <a:t>symptoms,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etc.)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accuracy.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0591" y="413461"/>
            <a:ext cx="5390515" cy="7956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107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850">
              <a:latin typeface="Times New Roman"/>
              <a:cs typeface="Times New Roman"/>
            </a:endParaRPr>
          </a:p>
          <a:p>
            <a:pPr marL="20320" marR="43180" indent="-5080" algn="just">
              <a:lnSpc>
                <a:spcPct val="147300"/>
              </a:lnSpc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utilizing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models,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e.g.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</a:t>
            </a:r>
            <a:r>
              <a:rPr sz="1100" dirty="0">
                <a:latin typeface="Times New Roman"/>
                <a:cs typeface="Times New Roman"/>
              </a:rPr>
              <a:t>utilize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multimodal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inputs,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distinguishing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amongst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visually </a:t>
            </a:r>
            <a:r>
              <a:rPr sz="1100" dirty="0">
                <a:latin typeface="Times New Roman"/>
                <a:cs typeface="Times New Roman"/>
              </a:rPr>
              <a:t>similar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condition.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imes New Roman"/>
              <a:cs typeface="Times New Roman"/>
            </a:endParaRPr>
          </a:p>
          <a:p>
            <a:pPr marL="445134" lvl="2" indent="-42989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45134" algn="l"/>
              </a:tabLst>
            </a:pPr>
            <a:r>
              <a:rPr sz="1100" b="1" dirty="0">
                <a:latin typeface="Times New Roman"/>
                <a:cs typeface="Times New Roman"/>
              </a:rPr>
              <a:t>Explainable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Ethical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AI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915"/>
              </a:spcBef>
              <a:buFont typeface="Times New Roman"/>
              <a:buAutoNum type="arabicPeriod" startAt="5"/>
            </a:pPr>
            <a:endParaRPr sz="1100">
              <a:latin typeface="Times New Roman"/>
              <a:cs typeface="Times New Roman"/>
            </a:endParaRPr>
          </a:p>
          <a:p>
            <a:pPr marL="436245" marR="40640" indent="-424180">
              <a:lnSpc>
                <a:spcPct val="149100"/>
              </a:lnSpc>
              <a:tabLst>
                <a:tab pos="5290820" algn="l"/>
              </a:tabLst>
            </a:pP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transparent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interpretable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trust.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•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privacy,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fairness,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mitigation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ethically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sound.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445134" lvl="2" indent="-429895">
              <a:lnSpc>
                <a:spcPct val="100000"/>
              </a:lnSpc>
              <a:buAutoNum type="arabicPeriod" startAt="6"/>
              <a:tabLst>
                <a:tab pos="445134" algn="l"/>
              </a:tabLst>
            </a:pPr>
            <a:r>
              <a:rPr sz="1100" b="1" dirty="0">
                <a:latin typeface="Times New Roman"/>
                <a:cs typeface="Times New Roman"/>
              </a:rPr>
              <a:t>IoT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Smart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Healthcare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Devices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35"/>
              </a:spcBef>
              <a:buFont typeface="Times New Roman"/>
              <a:buAutoNum type="arabicPeriod" startAt="6"/>
            </a:pPr>
            <a:endParaRPr sz="1100">
              <a:latin typeface="Times New Roman"/>
              <a:cs typeface="Times New Roman"/>
            </a:endParaRPr>
          </a:p>
          <a:p>
            <a:pPr marL="20320" marR="45085" indent="-5080" algn="just">
              <a:lnSpc>
                <a:spcPct val="1473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Internet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Things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(IoT)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(including </a:t>
            </a:r>
            <a:r>
              <a:rPr sz="1100" dirty="0">
                <a:latin typeface="Times New Roman"/>
                <a:cs typeface="Times New Roman"/>
              </a:rPr>
              <a:t>wearables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sensors)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monitoring.</a:t>
            </a:r>
            <a:endParaRPr sz="1100">
              <a:latin typeface="Times New Roman"/>
              <a:cs typeface="Times New Roman"/>
            </a:endParaRPr>
          </a:p>
          <a:p>
            <a:pPr marL="20320" marR="36195" indent="-5080" algn="just">
              <a:lnSpc>
                <a:spcPct val="146400"/>
              </a:lnSpc>
              <a:spcBef>
                <a:spcPts val="215"/>
              </a:spcBef>
            </a:pP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receive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alerts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abnormal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UV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exposure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daily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basis.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00">
              <a:latin typeface="Times New Roman"/>
              <a:cs typeface="Times New Roman"/>
            </a:endParaRPr>
          </a:p>
          <a:p>
            <a:pPr marL="445134" lvl="2" indent="-429895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445134" algn="l"/>
              </a:tabLst>
            </a:pPr>
            <a:r>
              <a:rPr sz="1100" b="1" dirty="0">
                <a:latin typeface="Times New Roman"/>
                <a:cs typeface="Times New Roman"/>
              </a:rPr>
              <a:t>Clinical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Validation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Regulatory </a:t>
            </a:r>
            <a:r>
              <a:rPr sz="1100" b="1" spc="-10" dirty="0">
                <a:latin typeface="Times New Roman"/>
                <a:cs typeface="Times New Roman"/>
              </a:rPr>
              <a:t>Approval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15"/>
              </a:spcBef>
              <a:buFont typeface="Times New Roman"/>
              <a:buAutoNum type="arabicPeriod" startAt="7"/>
            </a:pPr>
            <a:endParaRPr sz="1100">
              <a:latin typeface="Times New Roman"/>
              <a:cs typeface="Times New Roman"/>
            </a:endParaRPr>
          </a:p>
          <a:p>
            <a:pPr marL="20320" marR="44450" indent="-5080" algn="just">
              <a:lnSpc>
                <a:spcPct val="1477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trial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FDA/CE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certification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environments;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therefore,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pass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approval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forward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technology.</a:t>
            </a:r>
            <a:endParaRPr sz="1100">
              <a:latin typeface="Times New Roman"/>
              <a:cs typeface="Times New Roman"/>
            </a:endParaRPr>
          </a:p>
          <a:p>
            <a:pPr marL="20320" marR="44450" indent="-5080" algn="just">
              <a:lnSpc>
                <a:spcPct val="147300"/>
              </a:lnSpc>
              <a:spcBef>
                <a:spcPts val="50"/>
              </a:spcBef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physician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specializing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opportunity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refine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recommendations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imes New Roman"/>
              <a:cs typeface="Times New Roman"/>
            </a:endParaRPr>
          </a:p>
          <a:p>
            <a:pPr marL="335915" lvl="2" indent="-320675">
              <a:lnSpc>
                <a:spcPct val="100000"/>
              </a:lnSpc>
              <a:buAutoNum type="arabicPeriod" startAt="8"/>
              <a:tabLst>
                <a:tab pos="335915" algn="l"/>
              </a:tabLst>
            </a:pPr>
            <a:r>
              <a:rPr sz="1100" b="1" dirty="0">
                <a:latin typeface="Times New Roman"/>
                <a:cs typeface="Times New Roman"/>
              </a:rPr>
              <a:t>Integration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Electronic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Health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Records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(EHR)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100">
              <a:latin typeface="Times New Roman"/>
              <a:cs typeface="Times New Roman"/>
            </a:endParaRPr>
          </a:p>
          <a:p>
            <a:pPr marL="20320" marR="41910" indent="-5080" algn="just">
              <a:lnSpc>
                <a:spcPct val="147300"/>
              </a:lnSpc>
            </a:pP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hospital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EHRs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would </a:t>
            </a:r>
            <a:r>
              <a:rPr sz="1100" dirty="0">
                <a:latin typeface="Times New Roman"/>
                <a:cs typeface="Times New Roman"/>
              </a:rPr>
              <a:t>facilitate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exchange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healthcare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providers..</a:t>
            </a:r>
            <a:endParaRPr sz="1100">
              <a:latin typeface="Times New Roman"/>
              <a:cs typeface="Times New Roman"/>
            </a:endParaRPr>
          </a:p>
          <a:p>
            <a:pPr marL="15240" algn="just">
              <a:lnSpc>
                <a:spcPct val="100000"/>
              </a:lnSpc>
              <a:spcBef>
                <a:spcPts val="840"/>
              </a:spcBef>
            </a:pPr>
            <a:r>
              <a:rPr sz="1100" dirty="0">
                <a:latin typeface="Times New Roman"/>
                <a:cs typeface="Times New Roman"/>
              </a:rPr>
              <a:t>Patient-specific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treatment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possible.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33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34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5" y="1188483"/>
            <a:ext cx="5361940" cy="77622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2890" lvl="1" indent="-250190" algn="just">
              <a:lnSpc>
                <a:spcPct val="100000"/>
              </a:lnSpc>
              <a:spcBef>
                <a:spcPts val="125"/>
              </a:spcBef>
              <a:buAutoNum type="arabicPeriod" startAt="2"/>
              <a:tabLst>
                <a:tab pos="26289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Discussion</a:t>
            </a:r>
            <a:endParaRPr sz="1100">
              <a:latin typeface="Times New Roman"/>
              <a:cs typeface="Times New Roman"/>
            </a:endParaRPr>
          </a:p>
          <a:p>
            <a:pPr marL="26034" marR="64769" indent="-5080" algn="just">
              <a:lnSpc>
                <a:spcPct val="147600"/>
              </a:lnSpc>
              <a:spcBef>
                <a:spcPts val="775"/>
              </a:spcBef>
            </a:pP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helping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non-invasive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proven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controlled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experiments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diagnostic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greater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90%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identifying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acne, </a:t>
            </a:r>
            <a:r>
              <a:rPr sz="1100" dirty="0">
                <a:latin typeface="Times New Roman"/>
                <a:cs typeface="Times New Roman"/>
              </a:rPr>
              <a:t>eczema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psoriasis.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clinician.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considerations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AI-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100">
              <a:latin typeface="Times New Roman"/>
              <a:cs typeface="Times New Roman"/>
            </a:endParaRPr>
          </a:p>
          <a:p>
            <a:pPr marL="450850" lvl="2" indent="-429259" algn="just">
              <a:lnSpc>
                <a:spcPct val="100000"/>
              </a:lnSpc>
              <a:buAutoNum type="arabicPeriod"/>
              <a:tabLst>
                <a:tab pos="450850" algn="l"/>
              </a:tabLst>
            </a:pPr>
            <a:r>
              <a:rPr sz="1100" b="1" dirty="0">
                <a:latin typeface="Times New Roman"/>
                <a:cs typeface="Times New Roman"/>
              </a:rPr>
              <a:t>Limitations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Data:</a:t>
            </a:r>
            <a:endParaRPr sz="1100">
              <a:latin typeface="Times New Roman"/>
              <a:cs typeface="Times New Roman"/>
            </a:endParaRPr>
          </a:p>
          <a:p>
            <a:pPr marL="26034" marR="9525" indent="-5080" algn="just">
              <a:lnSpc>
                <a:spcPct val="14820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variety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major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factors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affecting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overall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model.</a:t>
            </a:r>
            <a:endParaRPr sz="1100">
              <a:latin typeface="Times New Roman"/>
              <a:cs typeface="Times New Roman"/>
            </a:endParaRPr>
          </a:p>
          <a:p>
            <a:pPr marL="26034" marR="8890" indent="-5080" algn="just">
              <a:lnSpc>
                <a:spcPct val="1464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adequately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represent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individuals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darker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rare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way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those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present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themselves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varying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degrees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lighting.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100">
              <a:latin typeface="Times New Roman"/>
              <a:cs typeface="Times New Roman"/>
            </a:endParaRPr>
          </a:p>
          <a:p>
            <a:pPr marL="450850" lvl="2" indent="-429259" algn="just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50850" algn="l"/>
              </a:tabLst>
            </a:pPr>
            <a:r>
              <a:rPr sz="1100" b="1" dirty="0">
                <a:latin typeface="Times New Roman"/>
                <a:cs typeface="Times New Roman"/>
              </a:rPr>
              <a:t>Generalization</a:t>
            </a:r>
            <a:r>
              <a:rPr sz="1100" b="1" spc="114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Challenges:</a:t>
            </a:r>
            <a:endParaRPr sz="11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4730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assessed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controlled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 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cannot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guaranteed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simply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performed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controlled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evaluation.</a:t>
            </a:r>
            <a:endParaRPr sz="1100">
              <a:latin typeface="Times New Roman"/>
              <a:cs typeface="Times New Roman"/>
            </a:endParaRPr>
          </a:p>
          <a:p>
            <a:pPr marL="26034" marR="6350" indent="-5080" algn="just">
              <a:lnSpc>
                <a:spcPct val="1477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Although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human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range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hospitals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demographics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tool.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100">
              <a:latin typeface="Times New Roman"/>
              <a:cs typeface="Times New Roman"/>
            </a:endParaRPr>
          </a:p>
          <a:p>
            <a:pPr marL="451484" lvl="2" indent="-42989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51484" algn="l"/>
              </a:tabLst>
            </a:pPr>
            <a:r>
              <a:rPr sz="1100" b="1" dirty="0">
                <a:latin typeface="Times New Roman"/>
                <a:cs typeface="Times New Roman"/>
              </a:rPr>
              <a:t>Explainability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Trust:</a:t>
            </a:r>
            <a:endParaRPr sz="1100">
              <a:latin typeface="Times New Roman"/>
              <a:cs typeface="Times New Roman"/>
            </a:endParaRPr>
          </a:p>
          <a:p>
            <a:pPr marL="26034" marR="69850" indent="-5080">
              <a:lnSpc>
                <a:spcPct val="14730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Although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visualizations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interpretability,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more </a:t>
            </a:r>
            <a:r>
              <a:rPr sz="1100" dirty="0">
                <a:latin typeface="Times New Roman"/>
                <a:cs typeface="Times New Roman"/>
              </a:rPr>
              <a:t>straightforward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explanations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780"/>
              </a:spcBef>
            </a:pP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explainable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frameworks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transparency.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100">
              <a:latin typeface="Times New Roman"/>
              <a:cs typeface="Times New Roman"/>
            </a:endParaRPr>
          </a:p>
          <a:p>
            <a:pPr marL="451484" lvl="2" indent="-429895">
              <a:lnSpc>
                <a:spcPct val="100000"/>
              </a:lnSpc>
              <a:buAutoNum type="arabicPeriod" startAt="4"/>
              <a:tabLst>
                <a:tab pos="451484" algn="l"/>
              </a:tabLst>
            </a:pPr>
            <a:r>
              <a:rPr sz="1100" b="1" dirty="0">
                <a:latin typeface="Times New Roman"/>
                <a:cs typeface="Times New Roman"/>
              </a:rPr>
              <a:t>Clinical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Adoption:</a:t>
            </a:r>
            <a:endParaRPr sz="1100">
              <a:latin typeface="Times New Roman"/>
              <a:cs typeface="Times New Roman"/>
            </a:endParaRPr>
          </a:p>
          <a:p>
            <a:pPr marL="18415" marR="33020">
              <a:lnSpc>
                <a:spcPct val="148200"/>
              </a:lnSpc>
              <a:spcBef>
                <a:spcPts val="170"/>
              </a:spcBef>
            </a:pP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adopted,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seamlessly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workflows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spc="-10" dirty="0">
                <a:latin typeface="Times New Roman"/>
                <a:cs typeface="Times New Roman"/>
              </a:rPr>
              <a:t>teledermatology.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9" y="413461"/>
            <a:ext cx="5387340" cy="2174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important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healthcare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comprehend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AI-generated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results.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41959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7.2.5</a:t>
            </a:r>
            <a:r>
              <a:rPr sz="1100" b="1" dirty="0">
                <a:latin typeface="Times New Roman"/>
                <a:cs typeface="Times New Roman"/>
              </a:rPr>
              <a:t>	Ethical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Legal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Concerns:</a:t>
            </a:r>
            <a:endParaRPr sz="1100">
              <a:latin typeface="Times New Roman"/>
              <a:cs typeface="Times New Roman"/>
            </a:endParaRPr>
          </a:p>
          <a:p>
            <a:pPr marL="17145" marR="92075" indent="-5080">
              <a:lnSpc>
                <a:spcPct val="14730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fundamental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</a:t>
            </a:r>
            <a:r>
              <a:rPr sz="1100" spc="-10" dirty="0">
                <a:latin typeface="Times New Roman"/>
                <a:cs typeface="Times New Roman"/>
              </a:rPr>
              <a:t>based systems.</a:t>
            </a:r>
            <a:endParaRPr sz="1100">
              <a:latin typeface="Times New Roman"/>
              <a:cs typeface="Times New Roman"/>
            </a:endParaRPr>
          </a:p>
          <a:p>
            <a:pPr marL="17145" marR="24765" indent="-5080">
              <a:lnSpc>
                <a:spcPct val="1482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compliance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protection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regulations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providers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must </a:t>
            </a:r>
            <a:r>
              <a:rPr sz="1100" dirty="0">
                <a:latin typeface="Times New Roman"/>
                <a:cs typeface="Times New Roman"/>
              </a:rPr>
              <a:t>adhere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strictly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laws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utilizing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technologies.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35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36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0591" y="711133"/>
            <a:ext cx="5410200" cy="825944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1500" b="1" dirty="0">
                <a:latin typeface="Times New Roman"/>
                <a:cs typeface="Times New Roman"/>
              </a:rPr>
              <a:t>CHAPTER</a:t>
            </a:r>
            <a:r>
              <a:rPr sz="1500" b="1" spc="-70" dirty="0">
                <a:latin typeface="Times New Roman"/>
                <a:cs typeface="Times New Roman"/>
              </a:rPr>
              <a:t> </a:t>
            </a:r>
            <a:r>
              <a:rPr sz="1500" b="1" spc="-50" dirty="0">
                <a:latin typeface="Times New Roman"/>
                <a:cs typeface="Times New Roman"/>
              </a:rPr>
              <a:t>8</a:t>
            </a:r>
            <a:endParaRPr sz="15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  <a:spcBef>
                <a:spcPts val="950"/>
              </a:spcBef>
            </a:pPr>
            <a:r>
              <a:rPr sz="1500" b="1" dirty="0">
                <a:latin typeface="Times New Roman"/>
                <a:cs typeface="Times New Roman"/>
              </a:rPr>
              <a:t>FRONT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END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BACK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END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Times New Roman"/>
                <a:cs typeface="Times New Roman"/>
              </a:rPr>
              <a:t>Front</a:t>
            </a:r>
            <a:r>
              <a:rPr sz="1300" b="1" spc="-25" dirty="0">
                <a:latin typeface="Times New Roman"/>
                <a:cs typeface="Times New Roman"/>
              </a:rPr>
              <a:t> end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Times New Roman"/>
              <a:cs typeface="Times New Roman"/>
            </a:endParaRPr>
          </a:p>
          <a:p>
            <a:pPr marL="20320" marR="5080" indent="-5080" algn="just">
              <a:lnSpc>
                <a:spcPct val="1559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“AI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Stages”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has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user-friendly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powered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review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subsequently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algorithms.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Therefore,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ways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common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relying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diagnosis;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decreasing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wait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greater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efficiency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eliminating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human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error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diagnoses.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networks </a:t>
            </a:r>
            <a:r>
              <a:rPr sz="1100" dirty="0">
                <a:latin typeface="Times New Roman"/>
                <a:cs typeface="Times New Roman"/>
              </a:rPr>
              <a:t>(known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CNNs)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model;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Grad-CAM-type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heatmaps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help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pinpoint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concern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diagnosing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skin </a:t>
            </a:r>
            <a:r>
              <a:rPr sz="1100" dirty="0">
                <a:latin typeface="Times New Roman"/>
                <a:cs typeface="Times New Roman"/>
              </a:rPr>
              <a:t>condition.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Thus,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entirely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transparent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interpretable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method,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practitioners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interpretation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AI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easily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understandable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manner.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</a:t>
            </a:r>
            <a:r>
              <a:rPr sz="1100" spc="-10" dirty="0">
                <a:latin typeface="Times New Roman"/>
                <a:cs typeface="Times New Roman"/>
              </a:rPr>
              <a:t>based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view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outcomes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submitted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images,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submitted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highlighted,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view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descriptions.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Back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end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20320" marR="5715" indent="-5080" algn="just">
              <a:lnSpc>
                <a:spcPct val="1560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AI-based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respect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generating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heatmaps.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Python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choice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community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libraries.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framework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options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include </a:t>
            </a:r>
            <a:r>
              <a:rPr sz="1100" dirty="0">
                <a:latin typeface="Times New Roman"/>
                <a:cs typeface="Times New Roman"/>
              </a:rPr>
              <a:t>Flask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Django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front-end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via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point.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uploaded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front-end,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sent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received,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preprocessed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(resizing, </a:t>
            </a:r>
            <a:r>
              <a:rPr sz="1100" dirty="0">
                <a:latin typeface="Times New Roman"/>
                <a:cs typeface="Times New Roman"/>
              </a:rPr>
              <a:t>enabling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noise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reduction),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passed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Model.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Libraries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TensorFlow,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Keras,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PyTorch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support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9" y="413461"/>
            <a:ext cx="5401945" cy="2066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850">
              <a:latin typeface="Times New Roman"/>
              <a:cs typeface="Times New Roman"/>
            </a:endParaRPr>
          </a:p>
          <a:p>
            <a:pPr marL="17145" marR="10795" algn="just">
              <a:lnSpc>
                <a:spcPct val="1564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design,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training,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19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19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Architectures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0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classify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heatmap</a:t>
            </a:r>
            <a:endParaRPr sz="11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5200"/>
              </a:lnSpc>
              <a:spcBef>
                <a:spcPts val="1130"/>
              </a:spcBef>
            </a:pPr>
            <a:r>
              <a:rPr sz="1100" dirty="0">
                <a:latin typeface="Times New Roman"/>
                <a:cs typeface="Times New Roman"/>
              </a:rPr>
              <a:t>visualizations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interpretations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CNN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Python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libraries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OpenCV,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Pillow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(PIL),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NumPy).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forwards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logic,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optimises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functions </a:t>
            </a:r>
            <a:r>
              <a:rPr sz="1100" dirty="0">
                <a:latin typeface="Times New Roman"/>
                <a:cs typeface="Times New Roman"/>
              </a:rPr>
              <a:t>extracted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above.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37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38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5" y="757728"/>
            <a:ext cx="5414645" cy="82569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725"/>
              </a:spcBef>
            </a:pPr>
            <a:r>
              <a:rPr sz="1300" b="1" dirty="0">
                <a:latin typeface="Times New Roman"/>
                <a:cs typeface="Times New Roman"/>
              </a:rPr>
              <a:t>CHAPTER</a:t>
            </a:r>
            <a:r>
              <a:rPr sz="1300" b="1" spc="15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9</a:t>
            </a:r>
            <a:endParaRPr sz="1300">
              <a:latin typeface="Times New Roman"/>
              <a:cs typeface="Times New Roman"/>
            </a:endParaRPr>
          </a:p>
          <a:p>
            <a:pPr marR="83820" algn="ctr">
              <a:lnSpc>
                <a:spcPct val="100000"/>
              </a:lnSpc>
              <a:spcBef>
                <a:spcPts val="900"/>
              </a:spcBef>
            </a:pPr>
            <a:r>
              <a:rPr sz="1850" b="1" dirty="0">
                <a:latin typeface="Times New Roman"/>
                <a:cs typeface="Times New Roman"/>
              </a:rPr>
              <a:t>FUTURE</a:t>
            </a:r>
            <a:r>
              <a:rPr sz="1850" b="1" spc="45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WORK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500" b="1" dirty="0">
                <a:latin typeface="Times New Roman"/>
                <a:cs typeface="Times New Roman"/>
              </a:rPr>
              <a:t>9.1</a:t>
            </a:r>
            <a:r>
              <a:rPr sz="1500" b="1" spc="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</a:t>
            </a:r>
            <a:r>
              <a:rPr sz="1300" b="1" dirty="0">
                <a:latin typeface="Times New Roman"/>
                <a:cs typeface="Times New Roman"/>
              </a:rPr>
              <a:t>ummary and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Contributions</a:t>
            </a:r>
            <a:endParaRPr sz="1300">
              <a:latin typeface="Times New Roman"/>
              <a:cs typeface="Times New Roman"/>
            </a:endParaRPr>
          </a:p>
          <a:p>
            <a:pPr marL="26034" marR="6350" indent="-5080" algn="just">
              <a:lnSpc>
                <a:spcPct val="155900"/>
              </a:lnSpc>
              <a:spcBef>
                <a:spcPts val="630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indicated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performed,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outcome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creation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AI-based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DermaDoc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smartphone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camera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automated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assessment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automated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Convolutional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(CNNs)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associated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DermaDoc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upon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features,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depend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knowledge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assessment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importantly,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applicability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transferred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high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labelled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have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numerous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DermaDoc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healthcare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supporting </a:t>
            </a:r>
            <a:r>
              <a:rPr sz="1100" spc="-25" dirty="0">
                <a:latin typeface="Times New Roman"/>
                <a:cs typeface="Times New Roman"/>
              </a:rPr>
              <a:t>AI.</a:t>
            </a:r>
            <a:endParaRPr sz="1100">
              <a:latin typeface="Times New Roman"/>
              <a:cs typeface="Times New Roman"/>
            </a:endParaRPr>
          </a:p>
          <a:p>
            <a:pPr marL="26034" marR="5080" indent="-5080" algn="just">
              <a:lnSpc>
                <a:spcPct val="156000"/>
              </a:lnSpc>
              <a:spcBef>
                <a:spcPts val="1125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aspect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interpretability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model, </a:t>
            </a:r>
            <a:r>
              <a:rPr sz="1100" dirty="0">
                <a:latin typeface="Times New Roman"/>
                <a:cs typeface="Times New Roman"/>
              </a:rPr>
              <a:t>especially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since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interpretability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extremely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important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industry.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example,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heatmapping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shows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lesion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determine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doctors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its </a:t>
            </a:r>
            <a:r>
              <a:rPr sz="1100" dirty="0">
                <a:latin typeface="Times New Roman"/>
                <a:cs typeface="Times New Roman"/>
              </a:rPr>
              <a:t>predictions.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help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results.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important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improved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treatment,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reducing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physician's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reliance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trial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error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increasing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diagnoses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treatments.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Additionally,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evidence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building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can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medical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industry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strong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regulatory </a:t>
            </a:r>
            <a:r>
              <a:rPr sz="1100" dirty="0">
                <a:latin typeface="Times New Roman"/>
                <a:cs typeface="Times New Roman"/>
              </a:rPr>
              <a:t>agencies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insurance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companies</a:t>
            </a:r>
            <a:r>
              <a:rPr sz="1100" spc="15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16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implementing</a:t>
            </a:r>
            <a:r>
              <a:rPr sz="1100" spc="15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155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model </a:t>
            </a:r>
            <a:r>
              <a:rPr sz="1100" dirty="0">
                <a:latin typeface="Times New Roman"/>
                <a:cs typeface="Times New Roman"/>
              </a:rPr>
              <a:t>specifications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evaluations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technology.</a:t>
            </a:r>
            <a:endParaRPr sz="1100">
              <a:latin typeface="Times New Roman"/>
              <a:cs typeface="Times New Roman"/>
            </a:endParaRPr>
          </a:p>
          <a:p>
            <a:pPr marL="26034" marR="6985" indent="-5080" algn="just">
              <a:lnSpc>
                <a:spcPct val="157300"/>
              </a:lnSpc>
              <a:spcBef>
                <a:spcPts val="1055"/>
              </a:spcBef>
            </a:pPr>
            <a:r>
              <a:rPr sz="1100" dirty="0">
                <a:latin typeface="Times New Roman"/>
                <a:cs typeface="Times New Roman"/>
              </a:rPr>
              <a:t>Another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noteworthy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advancement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comprehensive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preprocessing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procedure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clarity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quality.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preprocessing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procedure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incorporates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resizing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dimensions,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eliminating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noise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filtering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hair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from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9" y="413461"/>
            <a:ext cx="5405120" cy="8676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850">
              <a:latin typeface="Times New Roman"/>
              <a:cs typeface="Times New Roman"/>
            </a:endParaRPr>
          </a:p>
          <a:p>
            <a:pPr marL="17145" marR="13970" algn="just">
              <a:lnSpc>
                <a:spcPct val="155500"/>
              </a:lnSpc>
            </a:pP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colour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standardisation,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segmenting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cancer </a:t>
            </a:r>
            <a:r>
              <a:rPr sz="1100" dirty="0">
                <a:latin typeface="Times New Roman"/>
                <a:cs typeface="Times New Roman"/>
              </a:rPr>
              <a:t>lesions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training.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whether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colour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</a:t>
            </a:r>
            <a:r>
              <a:rPr sz="1100" dirty="0">
                <a:latin typeface="Times New Roman"/>
                <a:cs typeface="Times New Roman"/>
              </a:rPr>
              <a:t>light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etc.,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individuals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ethnicity,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regardless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their</a:t>
            </a:r>
            <a:endParaRPr sz="1100">
              <a:latin typeface="Times New Roman"/>
              <a:cs typeface="Times New Roman"/>
            </a:endParaRPr>
          </a:p>
          <a:p>
            <a:pPr marL="17145" marR="7620" indent="-5080" algn="just">
              <a:lnSpc>
                <a:spcPct val="155200"/>
              </a:lnSpc>
              <a:spcBef>
                <a:spcPts val="1165"/>
              </a:spcBef>
            </a:pP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captured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photographs,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photographs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receive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high-quality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results;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therefore,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consistently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high-</a:t>
            </a:r>
            <a:r>
              <a:rPr sz="1100" spc="-10" dirty="0">
                <a:latin typeface="Times New Roman"/>
                <a:cs typeface="Times New Roman"/>
              </a:rPr>
              <a:t>quality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much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likely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ideal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captured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holidays,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yield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real-world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can </a:t>
            </a:r>
            <a:r>
              <a:rPr sz="1100" dirty="0">
                <a:latin typeface="Times New Roman"/>
                <a:cs typeface="Times New Roman"/>
              </a:rPr>
              <a:t>differ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greatly.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Additionally,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extensive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variety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evaluation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people</a:t>
            </a:r>
            <a:r>
              <a:rPr sz="1100" spc="14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14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ethnicities,</a:t>
            </a:r>
            <a:r>
              <a:rPr sz="1100" spc="14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age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groups,</a:t>
            </a:r>
            <a:r>
              <a:rPr sz="1100" spc="14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gender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categories,</a:t>
            </a:r>
            <a:r>
              <a:rPr sz="1100" spc="145" dirty="0">
                <a:latin typeface="Times New Roman"/>
                <a:cs typeface="Times New Roman"/>
              </a:rPr>
              <a:t> 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environmental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thereby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degree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fairness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sample </a:t>
            </a:r>
            <a:r>
              <a:rPr sz="1100" dirty="0">
                <a:latin typeface="Times New Roman"/>
                <a:cs typeface="Times New Roman"/>
              </a:rPr>
              <a:t>images;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biased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against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people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group,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gender </a:t>
            </a:r>
            <a:r>
              <a:rPr sz="1100" dirty="0">
                <a:latin typeface="Times New Roman"/>
                <a:cs typeface="Times New Roman"/>
              </a:rPr>
              <a:t>category,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ethnicity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therefore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exhibits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equitable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demographic categories.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9.2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Model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Improvement</a:t>
            </a:r>
            <a:endParaRPr sz="13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6000"/>
              </a:lnSpc>
              <a:spcBef>
                <a:spcPts val="128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improvement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constant,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well-structured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effort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aimed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at </a:t>
            </a:r>
            <a:r>
              <a:rPr sz="1100" dirty="0">
                <a:latin typeface="Times New Roman"/>
                <a:cs typeface="Times New Roman"/>
              </a:rPr>
              <a:t>increasing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model's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reliability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efforts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advancements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advancements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design.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towards </a:t>
            </a:r>
            <a:r>
              <a:rPr sz="1100" dirty="0">
                <a:latin typeface="Times New Roman"/>
                <a:cs typeface="Times New Roman"/>
              </a:rPr>
              <a:t>improvement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remove </a:t>
            </a:r>
            <a:r>
              <a:rPr sz="1100" dirty="0">
                <a:latin typeface="Times New Roman"/>
                <a:cs typeface="Times New Roman"/>
              </a:rPr>
              <a:t>errors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noise),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distribution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relevant)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set, </a:t>
            </a:r>
            <a:r>
              <a:rPr sz="1100" dirty="0">
                <a:latin typeface="Times New Roman"/>
                <a:cs typeface="Times New Roman"/>
              </a:rPr>
              <a:t>removing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noise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set.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Enhancements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depth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layers)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regularization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(such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dropout, </a:t>
            </a:r>
            <a:r>
              <a:rPr sz="1100" dirty="0">
                <a:latin typeface="Times New Roman"/>
                <a:cs typeface="Times New Roman"/>
              </a:rPr>
              <a:t>batch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normalization)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opportunities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generalize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create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optimal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configuration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hyperparameter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tuning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through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grid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Bayesian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optimization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employed. </a:t>
            </a:r>
            <a:r>
              <a:rPr sz="1100" dirty="0">
                <a:latin typeface="Times New Roman"/>
                <a:cs typeface="Times New Roman"/>
              </a:rPr>
              <a:t>Transfer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greatly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benefit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amounts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data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reusing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leveraging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already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pre-trained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models.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train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optimizer, </a:t>
            </a:r>
            <a:r>
              <a:rPr sz="1100" dirty="0">
                <a:latin typeface="Times New Roman"/>
                <a:cs typeface="Times New Roman"/>
              </a:rPr>
              <a:t>appropriate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batch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sizes,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well-defined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schedules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stopping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criteria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39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8212" y="413461"/>
            <a:ext cx="5398135" cy="166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345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5200"/>
              </a:lnSpc>
            </a:pPr>
            <a:r>
              <a:rPr sz="1100" dirty="0">
                <a:latin typeface="Times New Roman"/>
                <a:cs typeface="Times New Roman"/>
              </a:rPr>
              <a:t>achieve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stable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model.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augmentation </a:t>
            </a:r>
            <a:r>
              <a:rPr sz="1100" dirty="0">
                <a:latin typeface="Times New Roman"/>
                <a:cs typeface="Times New Roman"/>
              </a:rPr>
              <a:t>techniques,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cross-validation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approaches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ensemble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bagging,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boosting,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likely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overfit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data).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previously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strategies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reliable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successfully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real-world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40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41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3639" y="712657"/>
            <a:ext cx="5409565" cy="8315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4025" marR="1729105" indent="388620">
              <a:lnSpc>
                <a:spcPct val="152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CHAPTER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10 </a:t>
            </a:r>
            <a:r>
              <a:rPr sz="1500" b="1" spc="-10" dirty="0">
                <a:latin typeface="Times New Roman"/>
                <a:cs typeface="Times New Roman"/>
              </a:rPr>
              <a:t>HEAT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MAPS</a:t>
            </a:r>
            <a:r>
              <a:rPr sz="1500" b="1" spc="-10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GRAPHS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10.1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Heat</a:t>
            </a:r>
            <a:r>
              <a:rPr sz="1300" b="1" spc="40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Maps</a:t>
            </a:r>
            <a:endParaRPr sz="13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4000"/>
              </a:lnSpc>
              <a:spcBef>
                <a:spcPts val="1125"/>
              </a:spcBef>
            </a:pP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AI-based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tool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recognizing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dermatology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presents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advanced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diagnostic </a:t>
            </a:r>
            <a:r>
              <a:rPr sz="1300" dirty="0">
                <a:latin typeface="Times New Roman"/>
                <a:cs typeface="Times New Roman"/>
              </a:rPr>
              <a:t>functionality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20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maps.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These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maps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visually</a:t>
            </a:r>
            <a:r>
              <a:rPr sz="1300" spc="2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indicate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areas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body</a:t>
            </a:r>
            <a:r>
              <a:rPr sz="1300" spc="1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which</a:t>
            </a:r>
            <a:r>
              <a:rPr sz="1300" spc="1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were</a:t>
            </a:r>
            <a:r>
              <a:rPr sz="1300" spc="1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most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relevant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model's</a:t>
            </a:r>
            <a:r>
              <a:rPr sz="1300" spc="1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classification.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first</a:t>
            </a:r>
            <a:r>
              <a:rPr sz="1300" spc="1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step</a:t>
            </a:r>
            <a:r>
              <a:rPr sz="1300" spc="17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in </a:t>
            </a:r>
            <a:r>
              <a:rPr sz="1300" dirty="0">
                <a:latin typeface="Times New Roman"/>
                <a:cs typeface="Times New Roman"/>
              </a:rPr>
              <a:t>processing</a:t>
            </a:r>
            <a:r>
              <a:rPr sz="1300" spc="4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4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skin</a:t>
            </a:r>
            <a:r>
              <a:rPr sz="1300" spc="4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image</a:t>
            </a:r>
            <a:r>
              <a:rPr sz="1300" spc="4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4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4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deep</a:t>
            </a:r>
            <a:r>
              <a:rPr sz="1300" spc="4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neural</a:t>
            </a:r>
            <a:r>
              <a:rPr sz="1300" spc="43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network</a:t>
            </a:r>
            <a:r>
              <a:rPr sz="1300" spc="459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(DNN),</a:t>
            </a:r>
            <a:r>
              <a:rPr sz="1300" spc="4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such</a:t>
            </a:r>
            <a:r>
              <a:rPr sz="1300" spc="4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43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a </a:t>
            </a:r>
            <a:r>
              <a:rPr sz="1300" dirty="0">
                <a:latin typeface="Times New Roman"/>
                <a:cs typeface="Times New Roman"/>
              </a:rPr>
              <a:t>convolutional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neural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network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(CNN),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pass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 image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through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several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layers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convolutions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order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extract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low-level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features.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These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low-level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features </a:t>
            </a:r>
            <a:r>
              <a:rPr sz="1300" dirty="0">
                <a:latin typeface="Times New Roman"/>
                <a:cs typeface="Times New Roman"/>
              </a:rPr>
              <a:t>can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include: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edges,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texture,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color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variations,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shape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irregularity,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lesion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patterns, </a:t>
            </a:r>
            <a:r>
              <a:rPr sz="1300" dirty="0">
                <a:latin typeface="Times New Roman"/>
                <a:cs typeface="Times New Roman"/>
              </a:rPr>
              <a:t>etc.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skin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image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makes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its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way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through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deeper</a:t>
            </a:r>
            <a:r>
              <a:rPr sz="1300" spc="1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layers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1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DNN,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higher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level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abstraction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allows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DNN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differentiate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between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more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abstract </a:t>
            </a:r>
            <a:r>
              <a:rPr sz="1300" dirty="0">
                <a:latin typeface="Times New Roman"/>
                <a:cs typeface="Times New Roman"/>
              </a:rPr>
              <a:t>features</a:t>
            </a:r>
            <a:r>
              <a:rPr sz="1300" spc="2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such</a:t>
            </a:r>
            <a:r>
              <a:rPr sz="1300" spc="2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as:</a:t>
            </a:r>
            <a:r>
              <a:rPr sz="1300" spc="2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differences</a:t>
            </a:r>
            <a:r>
              <a:rPr sz="1300" spc="2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pigmentation;</a:t>
            </a:r>
            <a:r>
              <a:rPr sz="1300" spc="2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lesion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boundaries,</a:t>
            </a:r>
            <a:r>
              <a:rPr sz="1300" spc="2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asymmetry; </a:t>
            </a:r>
            <a:r>
              <a:rPr sz="1300" dirty="0">
                <a:latin typeface="Times New Roman"/>
                <a:cs typeface="Times New Roman"/>
              </a:rPr>
              <a:t>variations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size;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scaling;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reddening;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forms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 </a:t>
            </a:r>
            <a:r>
              <a:rPr sz="1300" spc="-10" dirty="0">
                <a:latin typeface="Times New Roman"/>
                <a:cs typeface="Times New Roman"/>
              </a:rPr>
              <a:t>ulcers.</a:t>
            </a:r>
            <a:endParaRPr sz="1300">
              <a:latin typeface="Times New Roman"/>
              <a:cs typeface="Times New Roman"/>
            </a:endParaRPr>
          </a:p>
          <a:p>
            <a:pPr marL="17145" marR="7620" indent="33020" algn="just">
              <a:lnSpc>
                <a:spcPct val="154100"/>
              </a:lnSpc>
              <a:spcBef>
                <a:spcPts val="1075"/>
              </a:spcBef>
            </a:pP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maps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generated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by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following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gradients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that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flowed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into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last </a:t>
            </a:r>
            <a:r>
              <a:rPr sz="1300" dirty="0">
                <a:latin typeface="Times New Roman"/>
                <a:cs typeface="Times New Roman"/>
              </a:rPr>
              <a:t>convolutional</a:t>
            </a:r>
            <a:r>
              <a:rPr sz="1300" spc="3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layer</a:t>
            </a:r>
            <a:r>
              <a:rPr sz="1300" spc="3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3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3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DNN</a:t>
            </a:r>
            <a:r>
              <a:rPr sz="1300" spc="3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3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identify</a:t>
            </a:r>
            <a:r>
              <a:rPr sz="1300" spc="3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which</a:t>
            </a:r>
            <a:r>
              <a:rPr sz="1300" spc="3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areas</a:t>
            </a:r>
            <a:r>
              <a:rPr sz="1300" spc="3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3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3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skin</a:t>
            </a:r>
            <a:r>
              <a:rPr sz="1300" spc="3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image </a:t>
            </a:r>
            <a:r>
              <a:rPr sz="1300" dirty="0">
                <a:latin typeface="Times New Roman"/>
                <a:cs typeface="Times New Roman"/>
              </a:rPr>
              <a:t>provided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most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influence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on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model's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classification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output.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heat </a:t>
            </a:r>
            <a:r>
              <a:rPr sz="1300" dirty="0">
                <a:latin typeface="Times New Roman"/>
                <a:cs typeface="Times New Roman"/>
              </a:rPr>
              <a:t>maps,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it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possible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determine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why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model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predicted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particular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type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skin </a:t>
            </a:r>
            <a:r>
              <a:rPr sz="1300" dirty="0">
                <a:latin typeface="Times New Roman"/>
                <a:cs typeface="Times New Roman"/>
              </a:rPr>
              <a:t>disorder</a:t>
            </a:r>
            <a:r>
              <a:rPr sz="1300" spc="1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(e.g.,</a:t>
            </a:r>
            <a:r>
              <a:rPr sz="1300" spc="1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eczema,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psoriasis,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fungal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infections,</a:t>
            </a:r>
            <a:r>
              <a:rPr sz="1300" spc="1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melasma,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dermatitis,</a:t>
            </a:r>
            <a:r>
              <a:rPr sz="1300" spc="18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acne,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skin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cancer).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map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essentially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color-coded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overlay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that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indicates </a:t>
            </a:r>
            <a:r>
              <a:rPr sz="1300" dirty="0">
                <a:latin typeface="Times New Roman"/>
                <a:cs typeface="Times New Roman"/>
              </a:rPr>
              <a:t>which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areas,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shown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by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their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respective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colors: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red,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yellow,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orange,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had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most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significance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within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context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this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model.</a:t>
            </a:r>
            <a:endParaRPr sz="1300">
              <a:latin typeface="Times New Roman"/>
              <a:cs typeface="Times New Roman"/>
            </a:endParaRPr>
          </a:p>
          <a:p>
            <a:pPr marL="17145" marR="10795" indent="-5080" algn="just">
              <a:lnSpc>
                <a:spcPct val="153500"/>
              </a:lnSpc>
              <a:spcBef>
                <a:spcPts val="1110"/>
              </a:spcBef>
            </a:pPr>
            <a:r>
              <a:rPr sz="1300" dirty="0">
                <a:latin typeface="Times New Roman"/>
                <a:cs typeface="Times New Roman"/>
              </a:rPr>
              <a:t>Heatmaps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valuable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when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it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comes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debugging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dataset,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since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they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allow </a:t>
            </a:r>
            <a:r>
              <a:rPr sz="1300" dirty="0">
                <a:latin typeface="Times New Roman"/>
                <a:cs typeface="Times New Roman"/>
              </a:rPr>
              <a:t>developers</a:t>
            </a:r>
            <a:r>
              <a:rPr sz="1300" spc="3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3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find</a:t>
            </a:r>
            <a:r>
              <a:rPr sz="1300" spc="3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mislabeled</a:t>
            </a:r>
            <a:r>
              <a:rPr sz="1300" spc="3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images</a:t>
            </a:r>
            <a:r>
              <a:rPr sz="1300" spc="3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3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determine</a:t>
            </a:r>
            <a:r>
              <a:rPr sz="1300" spc="3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whether</a:t>
            </a:r>
            <a:r>
              <a:rPr sz="1300" spc="3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3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model</a:t>
            </a:r>
            <a:r>
              <a:rPr sz="1300" spc="38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is </a:t>
            </a:r>
            <a:r>
              <a:rPr sz="1300" dirty="0">
                <a:latin typeface="Times New Roman"/>
                <a:cs typeface="Times New Roman"/>
              </a:rPr>
              <a:t>focusing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correctly</a:t>
            </a:r>
            <a:r>
              <a:rPr sz="1300" spc="2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during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training</a:t>
            </a:r>
            <a:r>
              <a:rPr sz="1300" spc="2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process.</a:t>
            </a:r>
            <a:r>
              <a:rPr sz="1300" spc="1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heatmap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will</a:t>
            </a:r>
            <a:r>
              <a:rPr sz="1300" spc="2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show</a:t>
            </a:r>
            <a:r>
              <a:rPr sz="1300" spc="1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if</a:t>
            </a:r>
            <a:r>
              <a:rPr sz="1300" spc="229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the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2970276"/>
            <a:ext cx="6187439" cy="18120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3639" y="729418"/>
            <a:ext cx="5405120" cy="19964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8890" algn="just">
              <a:lnSpc>
                <a:spcPct val="153100"/>
              </a:lnSpc>
              <a:spcBef>
                <a:spcPts val="95"/>
              </a:spcBef>
            </a:pPr>
            <a:r>
              <a:rPr sz="1300" dirty="0">
                <a:latin typeface="Times New Roman"/>
                <a:cs typeface="Times New Roman"/>
              </a:rPr>
              <a:t>model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focusing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on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 wrong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areas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irrelevant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areas,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such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10" dirty="0">
                <a:latin typeface="Times New Roman"/>
                <a:cs typeface="Times New Roman"/>
              </a:rPr>
              <a:t> background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unrelated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regions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skin;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if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so,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model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will</a:t>
            </a:r>
            <a:endParaRPr sz="13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54400"/>
              </a:lnSpc>
              <a:spcBef>
                <a:spcPts val="1105"/>
              </a:spcBef>
            </a:pPr>
            <a:r>
              <a:rPr sz="1300" dirty="0">
                <a:latin typeface="Times New Roman"/>
                <a:cs typeface="Times New Roman"/>
              </a:rPr>
              <a:t>likely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need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additional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training,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augmentation,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noise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removal,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more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balanced </a:t>
            </a:r>
            <a:r>
              <a:rPr sz="1300" dirty="0">
                <a:latin typeface="Times New Roman"/>
                <a:cs typeface="Times New Roman"/>
              </a:rPr>
              <a:t>dataset.</a:t>
            </a:r>
            <a:r>
              <a:rPr sz="1300" spc="48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When</a:t>
            </a:r>
            <a:r>
              <a:rPr sz="1300" spc="4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dealing</a:t>
            </a:r>
            <a:r>
              <a:rPr sz="1300" spc="4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4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severe</a:t>
            </a:r>
            <a:r>
              <a:rPr sz="1300" spc="4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diseases,</a:t>
            </a:r>
            <a:r>
              <a:rPr sz="1300" spc="48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like</a:t>
            </a:r>
            <a:r>
              <a:rPr sz="1300" spc="4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melanoma</a:t>
            </a:r>
            <a:r>
              <a:rPr sz="1300" spc="4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484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bacterial </a:t>
            </a:r>
            <a:r>
              <a:rPr sz="1300" dirty="0">
                <a:latin typeface="Times New Roman"/>
                <a:cs typeface="Times New Roman"/>
              </a:rPr>
              <a:t>infections,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accurate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heatmap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localization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essential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because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it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directs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user's </a:t>
            </a:r>
            <a:r>
              <a:rPr sz="1300" dirty="0">
                <a:latin typeface="Times New Roman"/>
                <a:cs typeface="Times New Roman"/>
              </a:rPr>
              <a:t>attention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spots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42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3639" y="4886889"/>
            <a:ext cx="5410835" cy="4292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145" marR="5080" indent="-5080" algn="just">
              <a:lnSpc>
                <a:spcPct val="153800"/>
              </a:lnSpc>
              <a:spcBef>
                <a:spcPts val="110"/>
              </a:spcBef>
            </a:pP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abnormal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pigmentation,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irregular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border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formation,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areas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inflammation.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training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phase,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heatmaps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allow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developers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determine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whether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 </a:t>
            </a:r>
            <a:r>
              <a:rPr sz="1300" spc="-10" dirty="0">
                <a:latin typeface="Times New Roman"/>
                <a:cs typeface="Times New Roman"/>
              </a:rPr>
              <a:t>model </a:t>
            </a:r>
            <a:r>
              <a:rPr sz="1300" dirty="0">
                <a:latin typeface="Times New Roman"/>
                <a:cs typeface="Times New Roman"/>
              </a:rPr>
              <a:t>has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learned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dermatological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cues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it</a:t>
            </a:r>
            <a:r>
              <a:rPr sz="1300" spc="-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needs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identify</a:t>
            </a:r>
            <a:r>
              <a:rPr sz="1300" spc="-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lesions.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Examples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these </a:t>
            </a:r>
            <a:r>
              <a:rPr sz="1300" dirty="0">
                <a:latin typeface="Times New Roman"/>
                <a:cs typeface="Times New Roman"/>
              </a:rPr>
              <a:t>cues</a:t>
            </a:r>
            <a:r>
              <a:rPr sz="1300" spc="3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include</a:t>
            </a:r>
            <a:r>
              <a:rPr sz="1300" spc="3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symmetry,</a:t>
            </a:r>
            <a:r>
              <a:rPr sz="1300" spc="3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uniformity</a:t>
            </a:r>
            <a:r>
              <a:rPr sz="1300" spc="3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3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color,</a:t>
            </a:r>
            <a:r>
              <a:rPr sz="1300" spc="3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lesion</a:t>
            </a:r>
            <a:r>
              <a:rPr sz="1300" spc="3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elevation,</a:t>
            </a:r>
            <a:r>
              <a:rPr sz="1300" spc="3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scaling,</a:t>
            </a:r>
            <a:r>
              <a:rPr sz="1300" spc="3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crust </a:t>
            </a:r>
            <a:r>
              <a:rPr sz="1300" dirty="0">
                <a:latin typeface="Times New Roman"/>
                <a:cs typeface="Times New Roman"/>
              </a:rPr>
              <a:t>formation,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boundaries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that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have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irregularities.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Heatmaps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will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also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provide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an </a:t>
            </a:r>
            <a:r>
              <a:rPr sz="1300" dirty="0">
                <a:latin typeface="Times New Roman"/>
                <a:cs typeface="Times New Roman"/>
              </a:rPr>
              <a:t>increased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level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explainability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that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necessary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AI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medicine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according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to </a:t>
            </a:r>
            <a:r>
              <a:rPr sz="1300" dirty="0">
                <a:latin typeface="Times New Roman"/>
                <a:cs typeface="Times New Roman"/>
              </a:rPr>
              <a:t>ethical</a:t>
            </a:r>
            <a:r>
              <a:rPr sz="1300" spc="1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standards;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healthcare,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black-box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predictions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alone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</a:t>
            </a:r>
            <a:r>
              <a:rPr sz="1300" spc="19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unacceptable.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mobile/web-based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deployment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this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dermatological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tool,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heatmaps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will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be </a:t>
            </a:r>
            <a:r>
              <a:rPr sz="1300" dirty="0">
                <a:latin typeface="Times New Roman"/>
                <a:cs typeface="Times New Roman"/>
              </a:rPr>
              <a:t>dynamically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generated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each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image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uploaded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system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provide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user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visual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representation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area(s)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which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AI is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focusing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when </a:t>
            </a:r>
            <a:r>
              <a:rPr sz="1300" dirty="0">
                <a:latin typeface="Times New Roman"/>
                <a:cs typeface="Times New Roman"/>
              </a:rPr>
              <a:t>it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makes</a:t>
            </a:r>
            <a:r>
              <a:rPr sz="1300" spc="10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its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diagnosis.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This</a:t>
            </a:r>
            <a:r>
              <a:rPr sz="1300" spc="10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creates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10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greater</a:t>
            </a:r>
            <a:r>
              <a:rPr sz="1300" spc="11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level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transparency</a:t>
            </a:r>
            <a:r>
              <a:rPr sz="1300" spc="105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and </a:t>
            </a:r>
            <a:r>
              <a:rPr sz="1300" dirty="0">
                <a:latin typeface="Times New Roman"/>
                <a:cs typeface="Times New Roman"/>
              </a:rPr>
              <a:t>subsequently</a:t>
            </a:r>
            <a:r>
              <a:rPr sz="1300" spc="20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builds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more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user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confidence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AI</a:t>
            </a:r>
            <a:r>
              <a:rPr sz="1300" spc="1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being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used.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Furthermore, </a:t>
            </a:r>
            <a:r>
              <a:rPr sz="1300" dirty="0">
                <a:latin typeface="Times New Roman"/>
                <a:cs typeface="Times New Roman"/>
              </a:rPr>
              <a:t>heatmaps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create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opportunities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model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refinement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by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identifying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patterns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which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model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has</a:t>
            </a:r>
            <a:r>
              <a:rPr sz="1300" spc="1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difficulties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separating;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example,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model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may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2665475"/>
            <a:ext cx="5401055" cy="21396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8212" y="727894"/>
            <a:ext cx="53981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3800"/>
              </a:lnSpc>
              <a:spcBef>
                <a:spcPts val="95"/>
              </a:spcBef>
            </a:pPr>
            <a:r>
              <a:rPr sz="1300" dirty="0">
                <a:latin typeface="Times New Roman"/>
                <a:cs typeface="Times New Roman"/>
              </a:rPr>
              <a:t>misidentify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acne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redness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being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fungal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ring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it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may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identify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shadows </a:t>
            </a:r>
            <a:r>
              <a:rPr sz="1300" dirty="0">
                <a:latin typeface="Times New Roman"/>
                <a:cs typeface="Times New Roman"/>
              </a:rPr>
              <a:t>produced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by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lesion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edges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lesion.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By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identifying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these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types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errors, </a:t>
            </a:r>
            <a:r>
              <a:rPr sz="1300" dirty="0">
                <a:latin typeface="Times New Roman"/>
                <a:cs typeface="Times New Roman"/>
              </a:rPr>
              <a:t>developers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can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target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training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samples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that</a:t>
            </a:r>
            <a:r>
              <a:rPr sz="1300" spc="1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address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them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specifically</a:t>
            </a:r>
            <a:r>
              <a:rPr sz="1300" spc="1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will </a:t>
            </a:r>
            <a:r>
              <a:rPr sz="1300" dirty="0">
                <a:latin typeface="Times New Roman"/>
                <a:cs typeface="Times New Roman"/>
              </a:rPr>
              <a:t>likely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improve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overall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accuracy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model.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43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44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3639" y="733992"/>
            <a:ext cx="5592445" cy="8421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014" marR="2531110" indent="65405">
              <a:lnSpc>
                <a:spcPct val="1427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CHAPTER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11 </a:t>
            </a:r>
            <a:r>
              <a:rPr sz="1500" b="1" spc="-20" dirty="0">
                <a:latin typeface="Times New Roman"/>
                <a:cs typeface="Times New Roman"/>
              </a:rPr>
              <a:t>CONCLUSION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300" b="1" spc="-20" dirty="0">
                <a:latin typeface="Times New Roman"/>
                <a:cs typeface="Times New Roman"/>
              </a:rPr>
              <a:t>11.1</a:t>
            </a:r>
            <a:r>
              <a:rPr sz="1300" b="1" spc="1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CONCLUSION</a:t>
            </a:r>
            <a:endParaRPr sz="1300">
              <a:latin typeface="Times New Roman"/>
              <a:cs typeface="Times New Roman"/>
            </a:endParaRPr>
          </a:p>
          <a:p>
            <a:pPr marL="17145" marR="314960" indent="-5080" algn="just">
              <a:lnSpc>
                <a:spcPct val="147300"/>
              </a:lnSpc>
              <a:spcBef>
                <a:spcPts val="136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(AI)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combination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advanced </a:t>
            </a:r>
            <a:r>
              <a:rPr sz="1100" dirty="0">
                <a:latin typeface="Times New Roman"/>
                <a:cs typeface="Times New Roman"/>
              </a:rPr>
              <a:t>imaging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innovative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warning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disorders.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increases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  <a:p>
            <a:pPr marL="12700" marR="313690" algn="just">
              <a:lnSpc>
                <a:spcPct val="147000"/>
              </a:lnSpc>
              <a:spcBef>
                <a:spcPts val="91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diagnoses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innovative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convolutional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(CNN)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along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imaging </a:t>
            </a:r>
            <a:r>
              <a:rPr sz="1100" dirty="0">
                <a:latin typeface="Times New Roman"/>
                <a:cs typeface="Times New Roman"/>
              </a:rPr>
              <a:t>techniques.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likely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be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regions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insufficient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expertise.</a:t>
            </a:r>
            <a:endParaRPr sz="1100">
              <a:latin typeface="Times New Roman"/>
              <a:cs typeface="Times New Roman"/>
            </a:endParaRPr>
          </a:p>
          <a:p>
            <a:pPr marL="17145" marR="5080" indent="-5080" algn="just">
              <a:lnSpc>
                <a:spcPct val="147300"/>
              </a:lnSpc>
              <a:spcBef>
                <a:spcPts val="85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confidence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system,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clarity.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17145" marR="195580" indent="-5080" algn="just">
              <a:lnSpc>
                <a:spcPct val="148200"/>
              </a:lnSpc>
              <a:spcBef>
                <a:spcPts val="1105"/>
              </a:spcBef>
            </a:pPr>
            <a:r>
              <a:rPr sz="1100" dirty="0">
                <a:latin typeface="Times New Roman"/>
                <a:cs typeface="Times New Roman"/>
              </a:rPr>
              <a:t>"TeleDermatology"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system,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patients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screened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process,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opportunity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improvement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trials.</a:t>
            </a:r>
            <a:endParaRPr sz="1100">
              <a:latin typeface="Times New Roman"/>
              <a:cs typeface="Times New Roman"/>
            </a:endParaRPr>
          </a:p>
          <a:p>
            <a:pPr marL="17145" marR="191770" indent="-5080" algn="just">
              <a:lnSpc>
                <a:spcPct val="147300"/>
              </a:lnSpc>
              <a:spcBef>
                <a:spcPts val="994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AI-driven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Tool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Initial</a:t>
            </a:r>
            <a:r>
              <a:rPr sz="1100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Diagnosis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Dermatological</a:t>
            </a:r>
            <a:r>
              <a:rPr sz="1100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Manifestations</a:t>
            </a:r>
            <a:r>
              <a:rPr sz="1100" u="sng" spc="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shows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can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detection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earlier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detection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greater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Dermatological</a:t>
            </a:r>
            <a:r>
              <a:rPr sz="1100" u="sng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Care.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combination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Networks.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Image</a:t>
            </a:r>
            <a:r>
              <a:rPr sz="1100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Explainability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Heatmap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techniques,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degree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accuracy</a:t>
            </a:r>
            <a:r>
              <a:rPr sz="1100" u="sng" spc="2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transparency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user-friendliness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supplementary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tool.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initiative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has </a:t>
            </a:r>
            <a:r>
              <a:rPr sz="1100" dirty="0">
                <a:latin typeface="Times New Roman"/>
                <a:cs typeface="Times New Roman"/>
              </a:rPr>
              <a:t>created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bridge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Technology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Healthcare;</a:t>
            </a:r>
            <a:r>
              <a:rPr sz="1100" u="sng" spc="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(Patients)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submit </a:t>
            </a:r>
            <a:r>
              <a:rPr sz="1100" dirty="0">
                <a:latin typeface="Times New Roman"/>
                <a:cs typeface="Times New Roman"/>
              </a:rPr>
              <a:t>images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receive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diagnostic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suggestions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than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minute,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decreasing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physical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consultations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Patients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awareness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dermatological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Grad-CAM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heatmaps </a:t>
            </a:r>
            <a:r>
              <a:rPr sz="1100" dirty="0">
                <a:latin typeface="Times New Roman"/>
                <a:cs typeface="Times New Roman"/>
              </a:rPr>
              <a:t>adds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credibility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Physician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demonstrating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question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skin </a:t>
            </a:r>
            <a:r>
              <a:rPr sz="1100" dirty="0">
                <a:latin typeface="Times New Roman"/>
                <a:cs typeface="Times New Roman"/>
              </a:rPr>
              <a:t>surface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contributed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model’s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decision,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thereby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Patients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view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significance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beyond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predictive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model.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this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intuitive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contemporary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8212" y="413461"/>
            <a:ext cx="5390515" cy="1116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345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8600"/>
              </a:lnSpc>
            </a:pP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ensures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optimal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operation,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imaging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protocols,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service </a:t>
            </a:r>
            <a:r>
              <a:rPr sz="1100" dirty="0">
                <a:latin typeface="Times New Roman"/>
                <a:cs typeface="Times New Roman"/>
              </a:rPr>
              <a:t>delivery,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evolve. </a:t>
            </a:r>
            <a:r>
              <a:rPr sz="1100" dirty="0">
                <a:latin typeface="Times New Roman"/>
                <a:cs typeface="Times New Roman"/>
              </a:rPr>
              <a:t>Ultimately,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has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45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3639" y="2030625"/>
            <a:ext cx="5405755" cy="1510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475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demonstrated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AI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Detection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Skin</a:t>
            </a:r>
            <a:r>
              <a:rPr sz="1100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Disease,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Increase</a:t>
            </a:r>
            <a:r>
              <a:rPr sz="1100" u="sng" spc="3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Diagnostic</a:t>
            </a:r>
            <a:r>
              <a:rPr sz="1100" u="sng" spc="3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Accuracy,</a:t>
            </a:r>
            <a:r>
              <a:rPr sz="1100" u="sng" spc="3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Facilitate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Improvement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Telemedicine,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Provide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Additional</a:t>
            </a:r>
            <a:r>
              <a:rPr sz="1100" u="sng" spc="4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Support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Public</a:t>
            </a:r>
            <a:r>
              <a:rPr sz="1100" u="sng" spc="4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Health</a:t>
            </a:r>
            <a:r>
              <a:rPr sz="1100" u="sng" spc="48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Screening</a:t>
            </a:r>
            <a:r>
              <a:rPr sz="1100" u="sng" spc="4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(Not</a:t>
            </a:r>
            <a:r>
              <a:rPr sz="1100" u="sng" spc="4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Replace)</a:t>
            </a:r>
            <a:r>
              <a:rPr sz="1100" u="sng" spc="4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Dermatologists.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Future </a:t>
            </a:r>
            <a:r>
              <a:rPr sz="1100" dirty="0">
                <a:latin typeface="Times New Roman"/>
                <a:cs typeface="Times New Roman"/>
              </a:rPr>
              <a:t>upgrades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expansion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1100" u="sng" spc="2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Sets,</a:t>
            </a:r>
            <a:r>
              <a:rPr sz="1100" u="sng" spc="2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Additional</a:t>
            </a:r>
            <a:r>
              <a:rPr sz="1100" u="sng" spc="2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Classifications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Diseases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(including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Moles,</a:t>
            </a:r>
            <a:r>
              <a:rPr sz="1100" u="sng" spc="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Cysts,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Skin</a:t>
            </a:r>
            <a:r>
              <a:rPr sz="1100" u="sng" spc="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Problems),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Improvement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Real-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Predictive</a:t>
            </a:r>
            <a:r>
              <a:rPr sz="1100" u="sng" spc="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Models</a:t>
            </a:r>
            <a:r>
              <a:rPr sz="1100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Using</a:t>
            </a:r>
            <a:r>
              <a:rPr sz="1100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Artificial</a:t>
            </a:r>
            <a:r>
              <a:rPr sz="1100" u="sng" spc="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Intelligence.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495" y="413461"/>
            <a:ext cx="5415915" cy="8665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742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850">
              <a:latin typeface="Times New Roman"/>
              <a:cs typeface="Times New Roman"/>
            </a:endParaRPr>
          </a:p>
          <a:p>
            <a:pPr marL="1623060">
              <a:lnSpc>
                <a:spcPct val="100000"/>
              </a:lnSpc>
            </a:pPr>
            <a:r>
              <a:rPr sz="1850" b="1" spc="-10" dirty="0">
                <a:latin typeface="Times New Roman"/>
                <a:cs typeface="Times New Roman"/>
              </a:rPr>
              <a:t>REFERENCES</a:t>
            </a:r>
            <a:endParaRPr sz="1850">
              <a:latin typeface="Times New Roman"/>
              <a:cs typeface="Times New Roman"/>
            </a:endParaRPr>
          </a:p>
          <a:p>
            <a:pPr marL="26034" marR="51435" indent="-8890" algn="just">
              <a:lnSpc>
                <a:spcPct val="165500"/>
              </a:lnSpc>
              <a:spcBef>
                <a:spcPts val="65"/>
              </a:spcBef>
              <a:buSzPct val="90909"/>
              <a:buAutoNum type="arabicPeriod"/>
              <a:tabLst>
                <a:tab pos="26034" algn="l"/>
                <a:tab pos="128270" algn="l"/>
              </a:tabLst>
            </a:pPr>
            <a:r>
              <a:rPr sz="1100" b="1" dirty="0">
                <a:latin typeface="Calibri"/>
                <a:cs typeface="Calibri"/>
              </a:rPr>
              <a:t>	Huang,</a:t>
            </a:r>
            <a:r>
              <a:rPr sz="1100" b="1" spc="16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S.,</a:t>
            </a:r>
            <a:r>
              <a:rPr sz="1100" b="1" spc="16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Yang,</a:t>
            </a:r>
            <a:r>
              <a:rPr sz="1100" b="1" spc="1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J.,</a:t>
            </a:r>
            <a:r>
              <a:rPr sz="1100" b="1" spc="15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Fong,</a:t>
            </a:r>
            <a:r>
              <a:rPr sz="1100" b="1" spc="1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S.,</a:t>
            </a:r>
            <a:r>
              <a:rPr sz="1100" b="1" spc="16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1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Zhao,</a:t>
            </a:r>
            <a:r>
              <a:rPr sz="1100" b="1" spc="16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Q.</a:t>
            </a:r>
            <a:r>
              <a:rPr sz="1100" b="1" spc="1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(2020).</a:t>
            </a:r>
            <a:r>
              <a:rPr sz="1100" b="1" spc="1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Artificial</a:t>
            </a:r>
            <a:r>
              <a:rPr sz="1100" i="1" spc="1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intelligence</a:t>
            </a:r>
            <a:r>
              <a:rPr sz="1100" i="1" spc="1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1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dermatology:</a:t>
            </a:r>
            <a:r>
              <a:rPr sz="1100" i="1" spc="16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A</a:t>
            </a:r>
            <a:r>
              <a:rPr sz="1100" i="1" dirty="0">
                <a:latin typeface="Calibri"/>
                <a:cs typeface="Calibri"/>
              </a:rPr>
              <a:t> systematic</a:t>
            </a:r>
            <a:r>
              <a:rPr sz="1100" i="1" spc="1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review</a:t>
            </a:r>
            <a:r>
              <a:rPr sz="1100" i="1" spc="1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1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meta-analysis</a:t>
            </a:r>
            <a:r>
              <a:rPr sz="1100" i="1" spc="1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1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diagnostic</a:t>
            </a:r>
            <a:r>
              <a:rPr sz="1100" i="1" spc="1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performance.</a:t>
            </a:r>
            <a:r>
              <a:rPr sz="1100" i="1" spc="1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Computers</a:t>
            </a:r>
            <a:r>
              <a:rPr sz="1100" i="1" spc="1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1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Biology</a:t>
            </a:r>
            <a:r>
              <a:rPr sz="1100" i="1" spc="145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and </a:t>
            </a:r>
            <a:r>
              <a:rPr sz="1100" i="1" dirty="0">
                <a:latin typeface="Calibri"/>
                <a:cs typeface="Calibri"/>
              </a:rPr>
              <a:t>Medicine,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127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104065.</a:t>
            </a:r>
            <a:endParaRPr sz="1100">
              <a:latin typeface="Calibri"/>
              <a:cs typeface="Calibri"/>
            </a:endParaRPr>
          </a:p>
          <a:p>
            <a:pPr marL="26034" marR="49530" indent="-5080" algn="just">
              <a:lnSpc>
                <a:spcPct val="165500"/>
              </a:lnSpc>
              <a:spcBef>
                <a:spcPts val="35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Comprehensive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comparing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models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dermatologists;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confirmed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CNN-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based </a:t>
            </a:r>
            <a:r>
              <a:rPr sz="1100" dirty="0">
                <a:latin typeface="Calibri"/>
                <a:cs typeface="Calibri"/>
              </a:rPr>
              <a:t>tools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achieve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expert-level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accuracy.</a:t>
            </a:r>
            <a:endParaRPr sz="1100">
              <a:latin typeface="Calibri"/>
              <a:cs typeface="Calibri"/>
            </a:endParaRPr>
          </a:p>
          <a:p>
            <a:pPr marL="26034" marR="66675" indent="-8890" algn="just">
              <a:lnSpc>
                <a:spcPct val="166300"/>
              </a:lnSpc>
              <a:spcBef>
                <a:spcPts val="60"/>
              </a:spcBef>
              <a:buSzPct val="90909"/>
              <a:buAutoNum type="arabicPeriod" startAt="2"/>
              <a:tabLst>
                <a:tab pos="26034" algn="l"/>
                <a:tab pos="128270" algn="l"/>
              </a:tabLst>
            </a:pPr>
            <a:r>
              <a:rPr sz="1100" b="1" dirty="0">
                <a:latin typeface="Calibri"/>
                <a:cs typeface="Calibri"/>
              </a:rPr>
              <a:t>	Finnane,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A.,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Dallest,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K.,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Janda,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M.,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Soyer,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H.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P.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(2021). </a:t>
            </a:r>
            <a:r>
              <a:rPr sz="1100" i="1" dirty="0">
                <a:latin typeface="Calibri"/>
                <a:cs typeface="Calibri"/>
              </a:rPr>
              <a:t>Teledermatology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the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diagnosis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management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cancer: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systematic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review.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JAMA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Dermatology,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157(5)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606–617.</a:t>
            </a:r>
            <a:endParaRPr sz="1100">
              <a:latin typeface="Calibri"/>
              <a:cs typeface="Calibri"/>
            </a:endParaRPr>
          </a:p>
          <a:p>
            <a:pPr marL="26034" marR="84455" indent="-5080" algn="just">
              <a:lnSpc>
                <a:spcPct val="166400"/>
              </a:lnSpc>
              <a:spcBef>
                <a:spcPts val="15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Demonstrated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teledermatology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combined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improves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early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detection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remote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consultation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efficiency.</a:t>
            </a:r>
            <a:endParaRPr sz="1100">
              <a:latin typeface="Calibri"/>
              <a:cs typeface="Calibri"/>
            </a:endParaRPr>
          </a:p>
          <a:p>
            <a:pPr marL="26034" marR="52069" indent="-8890" algn="just">
              <a:lnSpc>
                <a:spcPct val="116799"/>
              </a:lnSpc>
              <a:spcBef>
                <a:spcPts val="700"/>
              </a:spcBef>
              <a:buSzPct val="90909"/>
              <a:buAutoNum type="arabicPeriod" startAt="3"/>
              <a:tabLst>
                <a:tab pos="26034" algn="l"/>
                <a:tab pos="128270" algn="l"/>
              </a:tabLst>
            </a:pPr>
            <a:r>
              <a:rPr sz="1100" b="1" dirty="0">
                <a:latin typeface="Calibri"/>
                <a:cs typeface="Calibri"/>
              </a:rPr>
              <a:t>	Haenssle, H.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A.,</a:t>
            </a:r>
            <a:r>
              <a:rPr sz="1100" b="1" spc="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Fink,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C.,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Schneiderbauer,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R., et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al.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(2020).</a:t>
            </a:r>
            <a:r>
              <a:rPr sz="1100" b="1" spc="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Man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against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machine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reloaded: </a:t>
            </a:r>
            <a:r>
              <a:rPr sz="1100" i="1" dirty="0">
                <a:latin typeface="Calibri"/>
                <a:cs typeface="Calibri"/>
              </a:rPr>
              <a:t>Performance</a:t>
            </a:r>
            <a:r>
              <a:rPr sz="1100" i="1" spc="1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1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100" i="1" spc="1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market-approved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convolutional</a:t>
            </a:r>
            <a:r>
              <a:rPr sz="1100" i="1" spc="1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neural</a:t>
            </a:r>
            <a:r>
              <a:rPr sz="1100" i="1" spc="1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network</a:t>
            </a:r>
            <a:r>
              <a:rPr sz="1100" i="1" spc="1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1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classifying</a:t>
            </a:r>
            <a:r>
              <a:rPr sz="1100" i="1" spc="1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melanocytic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nonmelanocytic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lesions.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European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Journal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Cancer,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138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118–126.</a:t>
            </a:r>
            <a:endParaRPr sz="1100">
              <a:latin typeface="Calibri"/>
              <a:cs typeface="Calibri"/>
            </a:endParaRPr>
          </a:p>
          <a:p>
            <a:pPr marL="21590" algn="just">
              <a:lnSpc>
                <a:spcPct val="100000"/>
              </a:lnSpc>
              <a:spcBef>
                <a:spcPts val="275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3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Compared</a:t>
            </a:r>
            <a:r>
              <a:rPr sz="1100" spc="3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3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classifier</a:t>
            </a:r>
            <a:r>
              <a:rPr sz="1100" spc="3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vs.</a:t>
            </a:r>
            <a:r>
              <a:rPr sz="1100" spc="3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dermatologists</a:t>
            </a:r>
            <a:r>
              <a:rPr sz="1100" spc="3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3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real-world</a:t>
            </a:r>
            <a:r>
              <a:rPr sz="1100" spc="3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settings,</a:t>
            </a:r>
            <a:r>
              <a:rPr sz="1100" spc="3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showing</a:t>
            </a:r>
            <a:r>
              <a:rPr sz="1100" spc="3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3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slightly</a:t>
            </a:r>
            <a:endParaRPr sz="11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865"/>
              </a:spcBef>
            </a:pPr>
            <a:r>
              <a:rPr sz="1100" dirty="0">
                <a:latin typeface="Calibri"/>
                <a:cs typeface="Calibri"/>
              </a:rPr>
              <a:t>outperforming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experts.</a:t>
            </a:r>
            <a:endParaRPr sz="1100">
              <a:latin typeface="Calibri"/>
              <a:cs typeface="Calibri"/>
            </a:endParaRPr>
          </a:p>
          <a:p>
            <a:pPr marL="26034" marR="55244" indent="-8890">
              <a:lnSpc>
                <a:spcPct val="118100"/>
              </a:lnSpc>
              <a:spcBef>
                <a:spcPts val="650"/>
              </a:spcBef>
              <a:buSzPct val="90909"/>
              <a:buAutoNum type="arabicPeriod" startAt="4"/>
              <a:tabLst>
                <a:tab pos="26034" algn="l"/>
                <a:tab pos="128270" algn="l"/>
              </a:tabLst>
            </a:pPr>
            <a:r>
              <a:rPr sz="1100" b="1" dirty="0">
                <a:latin typeface="Calibri"/>
                <a:cs typeface="Calibri"/>
              </a:rPr>
              <a:t>	Daneshjou,</a:t>
            </a:r>
            <a:r>
              <a:rPr sz="1100" b="1" spc="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R.,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et</a:t>
            </a:r>
            <a:r>
              <a:rPr sz="1100" b="1" spc="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al.</a:t>
            </a:r>
            <a:r>
              <a:rPr sz="1100" b="1" spc="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(2021).</a:t>
            </a:r>
            <a:r>
              <a:rPr sz="1100" b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Approaches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improve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algorithmic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fairness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dermatology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of </a:t>
            </a:r>
            <a:r>
              <a:rPr sz="1100" i="1" dirty="0">
                <a:latin typeface="Calibri"/>
                <a:cs typeface="Calibri"/>
              </a:rPr>
              <a:t>AI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systems.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Frontiers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Medicine,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8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713106.</a:t>
            </a:r>
            <a:endParaRPr sz="1100">
              <a:latin typeface="Calibri"/>
              <a:cs typeface="Calibri"/>
            </a:endParaRPr>
          </a:p>
          <a:p>
            <a:pPr marL="175260" marR="633095" indent="-163195">
              <a:lnSpc>
                <a:spcPct val="1182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Explores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dataset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bias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issues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dermatology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proposes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fairness-</a:t>
            </a:r>
            <a:r>
              <a:rPr sz="1100" spc="-10" dirty="0">
                <a:latin typeface="Calibri"/>
                <a:cs typeface="Calibri"/>
              </a:rPr>
              <a:t>improving </a:t>
            </a:r>
            <a:r>
              <a:rPr sz="1100" dirty="0">
                <a:latin typeface="Calibri"/>
                <a:cs typeface="Calibri"/>
              </a:rPr>
              <a:t>techniques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diverse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skin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tones.</a:t>
            </a:r>
            <a:endParaRPr sz="1100">
              <a:latin typeface="Calibri"/>
              <a:cs typeface="Calibri"/>
            </a:endParaRPr>
          </a:p>
          <a:p>
            <a:pPr marL="26034" marR="80010" indent="-18415">
              <a:lnSpc>
                <a:spcPct val="116300"/>
              </a:lnSpc>
              <a:spcBef>
                <a:spcPts val="720"/>
              </a:spcBef>
              <a:buSzPct val="90909"/>
              <a:buAutoNum type="arabicPeriod" startAt="5"/>
              <a:tabLst>
                <a:tab pos="26034" algn="l"/>
                <a:tab pos="118745" algn="l"/>
              </a:tabLst>
            </a:pPr>
            <a:r>
              <a:rPr sz="1100" b="1" dirty="0">
                <a:latin typeface="Calibri"/>
                <a:cs typeface="Calibri"/>
              </a:rPr>
              <a:t>	Tschandl,</a:t>
            </a:r>
            <a:r>
              <a:rPr sz="1100" b="1" spc="20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P.,</a:t>
            </a:r>
            <a:r>
              <a:rPr sz="1100" b="1" spc="19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et</a:t>
            </a:r>
            <a:r>
              <a:rPr sz="1100" b="1" spc="204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al.</a:t>
            </a:r>
            <a:r>
              <a:rPr sz="1100" b="1" spc="2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(2022).</a:t>
            </a:r>
            <a:r>
              <a:rPr sz="1100" b="1" spc="25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Human–computer</a:t>
            </a:r>
            <a:r>
              <a:rPr sz="1100" i="1" spc="1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collaboration</a:t>
            </a:r>
            <a:r>
              <a:rPr sz="1100" i="1" spc="2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1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2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cancer</a:t>
            </a:r>
            <a:r>
              <a:rPr sz="1100" i="1" spc="19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recognition. </a:t>
            </a:r>
            <a:r>
              <a:rPr sz="1100" i="1" dirty="0">
                <a:latin typeface="Calibri"/>
                <a:cs typeface="Calibri"/>
              </a:rPr>
              <a:t>Nature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Medicine,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28(1)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52–58.</a:t>
            </a:r>
            <a:endParaRPr sz="11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290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4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Found</a:t>
            </a:r>
            <a:r>
              <a:rPr sz="1100" spc="43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4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dermatologist–AI</a:t>
            </a:r>
            <a:r>
              <a:rPr sz="1100" spc="4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collaboration</a:t>
            </a:r>
            <a:r>
              <a:rPr sz="1100" spc="45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outperforms</a:t>
            </a:r>
            <a:r>
              <a:rPr sz="1100" spc="4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either</a:t>
            </a:r>
            <a:r>
              <a:rPr sz="1100" spc="4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alone</a:t>
            </a:r>
            <a:r>
              <a:rPr sz="1100" spc="4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4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diagnostic</a:t>
            </a:r>
            <a:endParaRPr sz="11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875"/>
              </a:spcBef>
            </a:pPr>
            <a:r>
              <a:rPr sz="1100" spc="-10" dirty="0">
                <a:latin typeface="Calibri"/>
                <a:cs typeface="Calibri"/>
              </a:rPr>
              <a:t>accuracy.</a:t>
            </a:r>
            <a:endParaRPr sz="1100">
              <a:latin typeface="Calibri"/>
              <a:cs typeface="Calibri"/>
            </a:endParaRPr>
          </a:p>
          <a:p>
            <a:pPr marL="26034" marR="75565" indent="-8890">
              <a:lnSpc>
                <a:spcPct val="122700"/>
              </a:lnSpc>
              <a:spcBef>
                <a:spcPts val="600"/>
              </a:spcBef>
              <a:buSzPct val="90909"/>
              <a:buAutoNum type="arabicPeriod" startAt="6"/>
              <a:tabLst>
                <a:tab pos="26034" algn="l"/>
                <a:tab pos="128270" algn="l"/>
              </a:tabLst>
            </a:pPr>
            <a:r>
              <a:rPr sz="1100" b="1" dirty="0">
                <a:latin typeface="Calibri"/>
                <a:cs typeface="Calibri"/>
              </a:rPr>
              <a:t>	Bissoto,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A.,</a:t>
            </a:r>
            <a:r>
              <a:rPr sz="1100" b="1" spc="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Valle,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E.,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Avila,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S.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(2021).</a:t>
            </a:r>
            <a:r>
              <a:rPr sz="1100" b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lesion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analysis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toward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melanoma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detection: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A</a:t>
            </a:r>
            <a:r>
              <a:rPr sz="1100" i="1" dirty="0">
                <a:latin typeface="Calibri"/>
                <a:cs typeface="Calibri"/>
              </a:rPr>
              <a:t> challenge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addressing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bias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interpretability.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Medical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Image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Analysis,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74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102287.</a:t>
            </a:r>
            <a:endParaRPr sz="11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325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Emphasized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 interpretability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introduced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dataset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improvements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reduce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bias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</a:t>
            </a:r>
            <a:endParaRPr sz="11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875"/>
              </a:spcBef>
            </a:pPr>
            <a:r>
              <a:rPr sz="1100" dirty="0">
                <a:latin typeface="Calibri"/>
                <a:cs typeface="Calibri"/>
              </a:rPr>
              <a:t>skin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lesion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systems.</a:t>
            </a:r>
            <a:endParaRPr sz="1100">
              <a:latin typeface="Calibri"/>
              <a:cs typeface="Calibri"/>
            </a:endParaRPr>
          </a:p>
          <a:p>
            <a:pPr marL="26034" marR="80645" indent="-8890">
              <a:lnSpc>
                <a:spcPct val="118100"/>
              </a:lnSpc>
              <a:spcBef>
                <a:spcPts val="660"/>
              </a:spcBef>
              <a:buSzPct val="90909"/>
              <a:buAutoNum type="arabicPeriod" startAt="7"/>
              <a:tabLst>
                <a:tab pos="26034" algn="l"/>
                <a:tab pos="128270" algn="l"/>
              </a:tabLst>
            </a:pPr>
            <a:r>
              <a:rPr sz="1100" b="1" dirty="0">
                <a:latin typeface="Calibri"/>
                <a:cs typeface="Calibri"/>
              </a:rPr>
              <a:t>	Li, Y.,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Shen,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L.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(2020).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lesion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analysis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towards melanoma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detection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using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deep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learning </a:t>
            </a:r>
            <a:r>
              <a:rPr sz="1100" i="1" dirty="0">
                <a:latin typeface="Calibri"/>
                <a:cs typeface="Calibri"/>
              </a:rPr>
              <a:t>network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ensemble.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IEEE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Access,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8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130216–130230.</a:t>
            </a:r>
            <a:endParaRPr sz="11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Developed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ensemble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CNN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approach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melanoma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detection,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improving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classification</a:t>
            </a:r>
            <a:endParaRPr sz="11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875"/>
              </a:spcBef>
            </a:pPr>
            <a:r>
              <a:rPr sz="1100" spc="-10" dirty="0">
                <a:latin typeface="Calibri"/>
                <a:cs typeface="Calibri"/>
              </a:rPr>
              <a:t>robustness.</a:t>
            </a:r>
            <a:endParaRPr sz="1100">
              <a:latin typeface="Calibri"/>
              <a:cs typeface="Calibri"/>
            </a:endParaRPr>
          </a:p>
          <a:p>
            <a:pPr marL="26034" marR="170180" indent="-8890">
              <a:lnSpc>
                <a:spcPct val="118100"/>
              </a:lnSpc>
              <a:spcBef>
                <a:spcPts val="665"/>
              </a:spcBef>
              <a:buSzPct val="90909"/>
              <a:buAutoNum type="arabicPeriod" startAt="8"/>
              <a:tabLst>
                <a:tab pos="26034" algn="l"/>
                <a:tab pos="128270" algn="l"/>
              </a:tabLst>
            </a:pPr>
            <a:r>
              <a:rPr sz="1100" b="1" dirty="0">
                <a:latin typeface="Calibri"/>
                <a:cs typeface="Calibri"/>
              </a:rPr>
              <a:t>	Lee,</a:t>
            </a:r>
            <a:r>
              <a:rPr sz="1100" b="1" spc="6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J.,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Kim,</a:t>
            </a:r>
            <a:r>
              <a:rPr sz="1100" b="1" spc="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J.,</a:t>
            </a:r>
            <a:r>
              <a:rPr sz="1100" b="1" spc="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Kim,</a:t>
            </a:r>
            <a:r>
              <a:rPr sz="1100" b="1" spc="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D.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(2021).</a:t>
            </a:r>
            <a:r>
              <a:rPr sz="1100" b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AI-assisted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mobile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dermatology: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Real-time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disease </a:t>
            </a:r>
            <a:r>
              <a:rPr sz="1100" i="1" dirty="0">
                <a:latin typeface="Calibri"/>
                <a:cs typeface="Calibri"/>
              </a:rPr>
              <a:t>recognition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using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smartphone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cameras.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Sensors,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21(22)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7564.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46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08" y="413461"/>
            <a:ext cx="5405755" cy="6464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850">
              <a:latin typeface="Times New Roman"/>
              <a:cs typeface="Times New Roman"/>
            </a:endParaRPr>
          </a:p>
          <a:p>
            <a:pPr marL="17145" marR="118110" indent="-5080">
              <a:lnSpc>
                <a:spcPct val="166400"/>
              </a:lnSpc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Presented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mobile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solution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capable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real-time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classification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phone-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captured images.</a:t>
            </a:r>
            <a:endParaRPr sz="1100">
              <a:latin typeface="Calibri"/>
              <a:cs typeface="Calibri"/>
            </a:endParaRPr>
          </a:p>
          <a:p>
            <a:pPr marL="12700" marR="172720" indent="-7620">
              <a:lnSpc>
                <a:spcPct val="119100"/>
              </a:lnSpc>
              <a:spcBef>
                <a:spcPts val="650"/>
              </a:spcBef>
              <a:buSzPct val="90909"/>
              <a:buAutoNum type="arabicPeriod" startAt="9"/>
              <a:tabLst>
                <a:tab pos="12700" algn="l"/>
                <a:tab pos="116205" algn="l"/>
              </a:tabLst>
            </a:pPr>
            <a:r>
              <a:rPr sz="1100" b="1" dirty="0">
                <a:latin typeface="Calibri"/>
                <a:cs typeface="Calibri"/>
              </a:rPr>
              <a:t>	Goyal,</a:t>
            </a:r>
            <a:r>
              <a:rPr sz="1100" b="1" spc="5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M.,</a:t>
            </a:r>
            <a:r>
              <a:rPr sz="1100" b="1" spc="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Knackstedt,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T.,</a:t>
            </a:r>
            <a:r>
              <a:rPr sz="1100" b="1" spc="6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Yan,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S.,</a:t>
            </a:r>
            <a:r>
              <a:rPr sz="1100" b="1" spc="7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5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Hassanpour,</a:t>
            </a:r>
            <a:r>
              <a:rPr sz="1100" b="1" spc="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S.</a:t>
            </a:r>
            <a:r>
              <a:rPr sz="1100" b="1" spc="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(2020).</a:t>
            </a:r>
            <a:r>
              <a:rPr sz="1100" b="1" spc="25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Artificial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intelligence-</a:t>
            </a:r>
            <a:r>
              <a:rPr sz="1100" i="1" spc="-10" dirty="0">
                <a:latin typeface="Calibri"/>
                <a:cs typeface="Calibri"/>
              </a:rPr>
              <a:t>based </a:t>
            </a:r>
            <a:r>
              <a:rPr sz="1100" i="1" dirty="0">
                <a:latin typeface="Calibri"/>
                <a:cs typeface="Calibri"/>
              </a:rPr>
              <a:t>image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classification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methods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diagnosis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cancer: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Challenges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opportunities. </a:t>
            </a:r>
            <a:r>
              <a:rPr sz="1100" i="1" dirty="0">
                <a:latin typeface="Calibri"/>
                <a:cs typeface="Calibri"/>
              </a:rPr>
              <a:t>Computers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Biology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Medicine,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127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104065.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Font typeface="Calibri"/>
              <a:buAutoNum type="arabicPeriod" startAt="9"/>
            </a:pPr>
            <a:endParaRPr sz="1100">
              <a:latin typeface="Calibri"/>
              <a:cs typeface="Calibri"/>
            </a:endParaRPr>
          </a:p>
          <a:p>
            <a:pPr marL="17145" marR="5080" indent="-5080">
              <a:lnSpc>
                <a:spcPct val="166400"/>
              </a:lnSpc>
              <a:spcBef>
                <a:spcPts val="5"/>
              </a:spcBef>
              <a:tabLst>
                <a:tab pos="269240" algn="l"/>
                <a:tab pos="967740" algn="l"/>
                <a:tab pos="2031364" algn="l"/>
                <a:tab pos="4062095" algn="l"/>
                <a:tab pos="4676140" algn="l"/>
                <a:tab pos="5022215" algn="l"/>
              </a:tabLst>
            </a:pPr>
            <a:r>
              <a:rPr sz="1100" spc="-50" dirty="0">
                <a:latin typeface="Calibri"/>
                <a:cs typeface="Calibri"/>
              </a:rPr>
              <a:t>→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spc="-10" dirty="0">
                <a:latin typeface="Calibri"/>
                <a:cs typeface="Calibri"/>
              </a:rPr>
              <a:t>Discussed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spc="-10" dirty="0">
                <a:latin typeface="Calibri"/>
                <a:cs typeface="Calibri"/>
              </a:rPr>
              <a:t>implementation</a:t>
            </a:r>
            <a:r>
              <a:rPr sz="1100" dirty="0">
                <a:latin typeface="Calibri"/>
                <a:cs typeface="Calibri"/>
              </a:rPr>
              <a:t>	barriers,</a:t>
            </a:r>
            <a:r>
              <a:rPr sz="1100" spc="29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emphasizing</a:t>
            </a:r>
            <a:r>
              <a:rPr sz="1100" spc="295" dirty="0">
                <a:latin typeface="Calibri"/>
                <a:cs typeface="Calibri"/>
              </a:rPr>
              <a:t>  </a:t>
            </a:r>
            <a:r>
              <a:rPr sz="1100" spc="-10" dirty="0">
                <a:latin typeface="Calibri"/>
                <a:cs typeface="Calibri"/>
              </a:rPr>
              <a:t>dataset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spc="-10" dirty="0">
                <a:latin typeface="Calibri"/>
                <a:cs typeface="Calibri"/>
              </a:rPr>
              <a:t>curation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spc="-25" dirty="0">
                <a:latin typeface="Calibri"/>
                <a:cs typeface="Calibri"/>
              </a:rPr>
              <a:t>and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spc="-10" dirty="0">
                <a:latin typeface="Calibri"/>
                <a:cs typeface="Calibri"/>
              </a:rPr>
              <a:t>model interpretability.</a:t>
            </a:r>
            <a:endParaRPr sz="1100">
              <a:latin typeface="Calibri"/>
              <a:cs typeface="Calibri"/>
            </a:endParaRPr>
          </a:p>
          <a:p>
            <a:pPr marL="17145" marR="52069" indent="-5080">
              <a:lnSpc>
                <a:spcPct val="117300"/>
              </a:lnSpc>
              <a:spcBef>
                <a:spcPts val="680"/>
              </a:spcBef>
              <a:buSzPct val="90909"/>
              <a:buAutoNum type="arabicPeriod" startAt="10"/>
              <a:tabLst>
                <a:tab pos="17145" algn="l"/>
                <a:tab pos="189865" algn="l"/>
              </a:tabLst>
            </a:pPr>
            <a:r>
              <a:rPr sz="1100" b="1" dirty="0">
                <a:latin typeface="Calibri"/>
                <a:cs typeface="Calibri"/>
              </a:rPr>
              <a:t>	Liu,</a:t>
            </a:r>
            <a:r>
              <a:rPr sz="1100" b="1" spc="2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Y.,</a:t>
            </a:r>
            <a:r>
              <a:rPr sz="1100" b="1" spc="229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et</a:t>
            </a:r>
            <a:r>
              <a:rPr sz="1100" b="1" spc="2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al.</a:t>
            </a:r>
            <a:r>
              <a:rPr sz="1100" b="1" spc="2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(2021).</a:t>
            </a:r>
            <a:r>
              <a:rPr sz="1100" b="1" spc="2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Deep</a:t>
            </a:r>
            <a:r>
              <a:rPr sz="1100" i="1" spc="2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learning</a:t>
            </a:r>
            <a:r>
              <a:rPr sz="1100" i="1" spc="2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2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dermatology:</a:t>
            </a:r>
            <a:r>
              <a:rPr sz="1100" i="1" spc="2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100" i="1" spc="2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review</a:t>
            </a:r>
            <a:r>
              <a:rPr sz="1100" i="1" spc="2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2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current</a:t>
            </a:r>
            <a:r>
              <a:rPr sz="1100" i="1" spc="25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approaches, </a:t>
            </a:r>
            <a:r>
              <a:rPr sz="1100" i="1" dirty="0">
                <a:latin typeface="Calibri"/>
                <a:cs typeface="Calibri"/>
              </a:rPr>
              <a:t>datasets,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limitations.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Dermatologic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Therapy,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34(3)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e14915.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43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Provided</a:t>
            </a:r>
            <a:r>
              <a:rPr sz="1100" spc="4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4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overview</a:t>
            </a:r>
            <a:r>
              <a:rPr sz="1100" spc="45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43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4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architectures</a:t>
            </a:r>
            <a:r>
              <a:rPr sz="1100" spc="43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4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limitations</a:t>
            </a:r>
            <a:r>
              <a:rPr sz="1100" spc="4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4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dermatological</a:t>
            </a:r>
            <a:r>
              <a:rPr sz="1100" spc="4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image</a:t>
            </a:r>
            <a:endParaRPr sz="11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875"/>
              </a:spcBef>
            </a:pPr>
            <a:r>
              <a:rPr sz="1100" spc="-10" dirty="0">
                <a:latin typeface="Calibri"/>
                <a:cs typeface="Calibri"/>
              </a:rPr>
              <a:t>classification.</a:t>
            </a:r>
            <a:endParaRPr sz="1100">
              <a:latin typeface="Calibri"/>
              <a:cs typeface="Calibri"/>
            </a:endParaRPr>
          </a:p>
          <a:p>
            <a:pPr marL="17145" marR="45085" indent="-5080">
              <a:lnSpc>
                <a:spcPct val="114500"/>
              </a:lnSpc>
              <a:spcBef>
                <a:spcPts val="745"/>
              </a:spcBef>
              <a:buSzPct val="90909"/>
              <a:buAutoNum type="arabicPeriod" startAt="11"/>
              <a:tabLst>
                <a:tab pos="17145" algn="l"/>
                <a:tab pos="189865" algn="l"/>
              </a:tabLst>
            </a:pPr>
            <a:r>
              <a:rPr sz="1100" b="1" dirty="0">
                <a:latin typeface="Calibri"/>
                <a:cs typeface="Calibri"/>
              </a:rPr>
              <a:t>	Niu,</a:t>
            </a:r>
            <a:r>
              <a:rPr sz="1100" b="1" spc="40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S.,</a:t>
            </a:r>
            <a:r>
              <a:rPr sz="1100" b="1" spc="39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et</a:t>
            </a:r>
            <a:r>
              <a:rPr sz="1100" b="1" spc="39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al.</a:t>
            </a:r>
            <a:r>
              <a:rPr sz="1100" b="1" spc="39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(2022).</a:t>
            </a:r>
            <a:r>
              <a:rPr sz="1100" b="1" spc="3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Lightweight</a:t>
            </a:r>
            <a:r>
              <a:rPr sz="1100" i="1" spc="4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deep</a:t>
            </a:r>
            <a:r>
              <a:rPr sz="1100" i="1" spc="4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neural</a:t>
            </a:r>
            <a:r>
              <a:rPr sz="1100" i="1" spc="3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network</a:t>
            </a:r>
            <a:r>
              <a:rPr sz="1100" i="1" spc="4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4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real-time</a:t>
            </a:r>
            <a:r>
              <a:rPr sz="1100" i="1" spc="3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40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disease </a:t>
            </a:r>
            <a:r>
              <a:rPr sz="1100" i="1" dirty="0">
                <a:latin typeface="Calibri"/>
                <a:cs typeface="Calibri"/>
              </a:rPr>
              <a:t>classification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on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embedded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devices.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IEEE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Access,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10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45412–45422.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Introduced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optimized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CNN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suitable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mobile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IoT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applications,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maintaining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high</a:t>
            </a:r>
            <a:endParaRPr sz="11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860"/>
              </a:spcBef>
            </a:pPr>
            <a:r>
              <a:rPr sz="1100" dirty="0">
                <a:latin typeface="Calibri"/>
                <a:cs typeface="Calibri"/>
              </a:rPr>
              <a:t>accuracy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computation.</a:t>
            </a:r>
            <a:endParaRPr sz="1100">
              <a:latin typeface="Calibri"/>
              <a:cs typeface="Calibri"/>
            </a:endParaRPr>
          </a:p>
          <a:p>
            <a:pPr marL="17145" marR="55244" indent="-5080">
              <a:lnSpc>
                <a:spcPct val="115399"/>
              </a:lnSpc>
              <a:spcBef>
                <a:spcPts val="735"/>
              </a:spcBef>
              <a:buSzPct val="90909"/>
              <a:buAutoNum type="arabicPeriod" startAt="12"/>
              <a:tabLst>
                <a:tab pos="17145" algn="l"/>
                <a:tab pos="189865" algn="l"/>
              </a:tabLst>
            </a:pPr>
            <a:r>
              <a:rPr sz="1100" b="1" dirty="0">
                <a:latin typeface="Calibri"/>
                <a:cs typeface="Calibri"/>
              </a:rPr>
              <a:t>	Xie,</a:t>
            </a:r>
            <a:r>
              <a:rPr sz="1100" b="1" spc="18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F.,</a:t>
            </a:r>
            <a:r>
              <a:rPr sz="1100" b="1" spc="18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Zhu,</a:t>
            </a:r>
            <a:r>
              <a:rPr sz="1100" b="1" spc="18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Y.,</a:t>
            </a:r>
            <a:r>
              <a:rPr sz="1100" b="1" spc="18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1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Hu,</a:t>
            </a:r>
            <a:r>
              <a:rPr sz="1100" b="1" spc="18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J.</a:t>
            </a:r>
            <a:r>
              <a:rPr sz="1100" b="1" spc="16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(2020).</a:t>
            </a:r>
            <a:r>
              <a:rPr sz="1100" b="1" spc="1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Melanoma</a:t>
            </a:r>
            <a:r>
              <a:rPr sz="1100" i="1" spc="1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classification</a:t>
            </a:r>
            <a:r>
              <a:rPr sz="1100" i="1" spc="1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using</a:t>
            </a:r>
            <a:r>
              <a:rPr sz="1100" i="1" spc="1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100" i="1" spc="1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hybrid</a:t>
            </a:r>
            <a:r>
              <a:rPr sz="1100" i="1" spc="1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deep</a:t>
            </a:r>
            <a:r>
              <a:rPr sz="1100" i="1" spc="1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learning </a:t>
            </a:r>
            <a:r>
              <a:rPr sz="1100" i="1" dirty="0">
                <a:latin typeface="Calibri"/>
                <a:cs typeface="Calibri"/>
              </a:rPr>
              <a:t>approach.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Pattern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Recognition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Letters,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138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397–402.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4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Combined</a:t>
            </a:r>
            <a:r>
              <a:rPr sz="1100" spc="4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CNN</a:t>
            </a:r>
            <a:r>
              <a:rPr sz="1100" spc="43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4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handcrafted</a:t>
            </a:r>
            <a:r>
              <a:rPr sz="1100" spc="4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features,</a:t>
            </a:r>
            <a:r>
              <a:rPr sz="1100" spc="4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achieving</a:t>
            </a:r>
            <a:r>
              <a:rPr sz="1100" spc="43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improved</a:t>
            </a:r>
            <a:r>
              <a:rPr sz="1100" spc="40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detection</a:t>
            </a:r>
            <a:r>
              <a:rPr sz="1100" spc="4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rates</a:t>
            </a:r>
            <a:r>
              <a:rPr sz="1100" spc="40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</a:t>
            </a:r>
            <a:endParaRPr sz="11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865"/>
              </a:spcBef>
            </a:pPr>
            <a:r>
              <a:rPr sz="1100" spc="-10" dirty="0">
                <a:latin typeface="Calibri"/>
                <a:cs typeface="Calibri"/>
              </a:rPr>
              <a:t>melanoma.</a:t>
            </a:r>
            <a:endParaRPr sz="1100">
              <a:latin typeface="Calibri"/>
              <a:cs typeface="Calibri"/>
            </a:endParaRPr>
          </a:p>
          <a:p>
            <a:pPr marL="17145" marR="45720" indent="-16510" algn="just">
              <a:lnSpc>
                <a:spcPct val="116399"/>
              </a:lnSpc>
              <a:spcBef>
                <a:spcPts val="695"/>
              </a:spcBef>
              <a:buSzPct val="90909"/>
              <a:buAutoNum type="arabicPeriod" startAt="13"/>
              <a:tabLst>
                <a:tab pos="17145" algn="l"/>
                <a:tab pos="176530" algn="l"/>
              </a:tabLst>
            </a:pPr>
            <a:r>
              <a:rPr sz="1100" b="1" dirty="0">
                <a:latin typeface="Calibri"/>
                <a:cs typeface="Calibri"/>
              </a:rPr>
              <a:t>	Yamashita,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R.,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Nishio,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M.,</a:t>
            </a:r>
            <a:r>
              <a:rPr sz="1100" b="1" spc="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Do,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R.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K.,</a:t>
            </a:r>
            <a:r>
              <a:rPr sz="1100" b="1" spc="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Togashi,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K.</a:t>
            </a:r>
            <a:r>
              <a:rPr sz="1100" b="1" spc="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(2020).</a:t>
            </a:r>
            <a:r>
              <a:rPr sz="1100" b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Convolutional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neural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networks: </a:t>
            </a:r>
            <a:r>
              <a:rPr sz="1100" i="1" dirty="0">
                <a:latin typeface="Calibri"/>
                <a:cs typeface="Calibri"/>
              </a:rPr>
              <a:t>An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overview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application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radiology</a:t>
            </a:r>
            <a:r>
              <a:rPr sz="1100" i="1" spc="1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dermatology.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Insights</a:t>
            </a:r>
            <a:r>
              <a:rPr sz="1100" i="1" spc="1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into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Imaging,</a:t>
            </a:r>
            <a:r>
              <a:rPr sz="1100" i="1" spc="1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11(1)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5– 20.</a:t>
            </a:r>
            <a:endParaRPr sz="11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Reviewed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CNN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mechanisms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their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image-based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diagnostics,</a:t>
            </a:r>
            <a:endParaRPr sz="1100">
              <a:latin typeface="Calibri"/>
              <a:cs typeface="Calibri"/>
            </a:endParaRPr>
          </a:p>
          <a:p>
            <a:pPr marL="17145" algn="just">
              <a:lnSpc>
                <a:spcPct val="100000"/>
              </a:lnSpc>
              <a:spcBef>
                <a:spcPts val="875"/>
              </a:spcBef>
            </a:pPr>
            <a:r>
              <a:rPr sz="1100" dirty="0">
                <a:latin typeface="Calibri"/>
                <a:cs typeface="Calibri"/>
              </a:rPr>
              <a:t>including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dermatology.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47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48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51124" y="827508"/>
            <a:ext cx="149606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1" dirty="0">
                <a:latin typeface="Times New Roman"/>
                <a:cs typeface="Times New Roman"/>
              </a:rPr>
              <a:t>BASE</a:t>
            </a:r>
            <a:r>
              <a:rPr sz="1850" b="1" spc="40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PAPER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3639" y="1502427"/>
            <a:ext cx="5405120" cy="1832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Calibri"/>
                <a:cs typeface="Calibri"/>
              </a:rPr>
              <a:t>.Finnane, A.,</a:t>
            </a:r>
            <a:r>
              <a:rPr sz="1100" b="1" spc="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Dallest,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K.,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Janda,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M.,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Soyer,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H.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P.</a:t>
            </a:r>
            <a:r>
              <a:rPr sz="1100" b="1" spc="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(2021).</a:t>
            </a:r>
            <a:r>
              <a:rPr sz="1100" b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Teledermatology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the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diagnosis</a:t>
            </a:r>
            <a:endParaRPr sz="1100">
              <a:latin typeface="Calibri"/>
              <a:cs typeface="Calibri"/>
            </a:endParaRPr>
          </a:p>
          <a:p>
            <a:pPr marL="17145" algn="just">
              <a:lnSpc>
                <a:spcPct val="100000"/>
              </a:lnSpc>
              <a:spcBef>
                <a:spcPts val="875"/>
              </a:spcBef>
            </a:pP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management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skin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cancer: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systematic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review.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JAMA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Dermatology,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157(5)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606–617.</a:t>
            </a:r>
            <a:endParaRPr sz="1100">
              <a:latin typeface="Calibri"/>
              <a:cs typeface="Calibri"/>
            </a:endParaRPr>
          </a:p>
          <a:p>
            <a:pPr marL="17145" marR="5080" indent="-5080" algn="just">
              <a:lnSpc>
                <a:spcPct val="1605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→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Demonstrated</a:t>
            </a:r>
            <a:r>
              <a:rPr sz="1100" spc="3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teledermatology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combined</a:t>
            </a:r>
            <a:r>
              <a:rPr sz="1100" spc="3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improves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early</a:t>
            </a:r>
            <a:r>
              <a:rPr sz="1100" spc="3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detection</a:t>
            </a:r>
            <a:r>
              <a:rPr sz="1100" spc="3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remote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consultation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efficiency.</a:t>
            </a:r>
            <a:r>
              <a:rPr sz="1100" spc="365" dirty="0">
                <a:latin typeface="Calibri"/>
                <a:cs typeface="Calibri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friendly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 </a:t>
            </a:r>
            <a:r>
              <a:rPr sz="1100" dirty="0">
                <a:latin typeface="Times New Roman"/>
                <a:cs typeface="Times New Roman"/>
              </a:rPr>
              <a:t>which we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 for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diagnosis.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from </a:t>
            </a:r>
            <a:r>
              <a:rPr sz="1100" dirty="0">
                <a:latin typeface="Times New Roman"/>
                <a:cs typeface="Times New Roman"/>
              </a:rPr>
              <a:t>experiments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terms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promise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setting.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495" y="413461"/>
            <a:ext cx="5396865" cy="208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7425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850">
              <a:latin typeface="Times New Roman"/>
              <a:cs typeface="Times New Roman"/>
            </a:endParaRPr>
          </a:p>
          <a:p>
            <a:pPr marR="538480" algn="ctr">
              <a:lnSpc>
                <a:spcPct val="100000"/>
              </a:lnSpc>
            </a:pPr>
            <a:r>
              <a:rPr sz="1850" b="1" spc="-10" dirty="0">
                <a:latin typeface="Times New Roman"/>
                <a:cs typeface="Times New Roman"/>
              </a:rPr>
              <a:t>Appendices</a:t>
            </a:r>
            <a:endParaRPr sz="185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254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appendices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material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too</a:t>
            </a:r>
            <a:endParaRPr sz="11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700"/>
              </a:spcBef>
            </a:pPr>
            <a:r>
              <a:rPr sz="1100" dirty="0">
                <a:latin typeface="Times New Roman"/>
                <a:cs typeface="Times New Roman"/>
              </a:rPr>
              <a:t>detailed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inclusion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text.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spc="-10" dirty="0">
                <a:latin typeface="Times New Roman"/>
                <a:cs typeface="Times New Roman"/>
              </a:rPr>
              <a:t>Appendix</a:t>
            </a:r>
            <a:r>
              <a:rPr sz="1500" b="1" spc="-1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–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Screenshots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System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Interfaces</a:t>
            </a:r>
            <a:endParaRPr sz="15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600"/>
              </a:spcBef>
            </a:pPr>
            <a:r>
              <a:rPr sz="1100" b="1" dirty="0">
                <a:latin typeface="Times New Roman"/>
                <a:cs typeface="Times New Roman"/>
              </a:rPr>
              <a:t>A.1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Home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Page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Interface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2727960"/>
            <a:ext cx="5379719" cy="2563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863" y="6092952"/>
            <a:ext cx="5489448" cy="25572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83639" y="5429775"/>
            <a:ext cx="343471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34465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A.1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opening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page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derma</a:t>
            </a:r>
            <a:r>
              <a:rPr sz="1100" spc="-25" dirty="0">
                <a:latin typeface="Times New Roman"/>
                <a:cs typeface="Times New Roman"/>
              </a:rPr>
              <a:t> AI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dirty="0">
                <a:latin typeface="Times New Roman"/>
                <a:cs typeface="Times New Roman"/>
              </a:rPr>
              <a:t>A.2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Sign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49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1559" y="8787147"/>
            <a:ext cx="116967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A.2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9" y="413461"/>
            <a:ext cx="5387340" cy="617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A.3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IF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DON’T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HAVE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ACCOUNT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YOU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CAN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SIGN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UP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1176527"/>
            <a:ext cx="5393435" cy="26578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863" y="5268467"/>
            <a:ext cx="5352287" cy="30373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60980" y="3965211"/>
            <a:ext cx="30626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A.3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doesn’t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account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up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50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3639" y="4926855"/>
            <a:ext cx="398335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Times New Roman"/>
                <a:cs typeface="Times New Roman"/>
              </a:rPr>
              <a:t>A.4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FINISHING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SIGN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UP</a:t>
            </a:r>
            <a:r>
              <a:rPr sz="1100" b="1" spc="-10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SIGN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YOU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CAN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START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8288" y="8453391"/>
            <a:ext cx="30245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A.4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finishing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start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9" y="413461"/>
            <a:ext cx="5387340" cy="617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A.5</a:t>
            </a:r>
            <a:r>
              <a:rPr sz="1100" b="1" spc="3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HERE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YOU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CAN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UPLOAD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PHOTO</a:t>
            </a:r>
            <a:r>
              <a:rPr sz="1100" b="1" spc="3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YOUR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SKIN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DISEASE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1176527"/>
            <a:ext cx="5309616" cy="30525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863" y="5216652"/>
            <a:ext cx="5367528" cy="30723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83639" y="4376691"/>
            <a:ext cx="4854575" cy="695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6939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A.5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here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photo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disease</a:t>
            </a:r>
            <a:endParaRPr sz="1100">
              <a:latin typeface="Times New Roman"/>
              <a:cs typeface="Times New Roman"/>
            </a:endParaRPr>
          </a:p>
          <a:p>
            <a:pPr marL="17145" marR="51435" indent="-5080">
              <a:lnSpc>
                <a:spcPct val="104500"/>
              </a:lnSpc>
              <a:spcBef>
                <a:spcPts val="1165"/>
              </a:spcBef>
            </a:pPr>
            <a:r>
              <a:rPr sz="1100" b="1" dirty="0">
                <a:latin typeface="Times New Roman"/>
                <a:cs typeface="Times New Roman"/>
              </a:rPr>
              <a:t>A.6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AFTER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UPLOADING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IMAGE,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AI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TOOL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WILL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SHOW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THE </a:t>
            </a:r>
            <a:r>
              <a:rPr sz="1100" b="1" dirty="0">
                <a:latin typeface="Times New Roman"/>
                <a:cs typeface="Times New Roman"/>
              </a:rPr>
              <a:t>RESULTS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DISEASE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51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9880" y="8435102"/>
            <a:ext cx="444627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-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A.6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disease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9" y="413461"/>
            <a:ext cx="5387340" cy="796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850">
              <a:latin typeface="Times New Roman"/>
              <a:cs typeface="Times New Roman"/>
            </a:endParaRPr>
          </a:p>
          <a:p>
            <a:pPr marL="17145" marR="573405" indent="-5080">
              <a:lnSpc>
                <a:spcPct val="105500"/>
              </a:lnSpc>
            </a:pPr>
            <a:r>
              <a:rPr sz="1100" b="1" dirty="0">
                <a:latin typeface="Times New Roman"/>
                <a:cs typeface="Times New Roman"/>
              </a:rPr>
              <a:t>A.7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BY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CLICKING ON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LOOK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CLINICS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IT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SWILL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SHOW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NEAR </a:t>
            </a:r>
            <a:r>
              <a:rPr sz="1100" b="1" dirty="0">
                <a:latin typeface="Times New Roman"/>
                <a:cs typeface="Times New Roman"/>
              </a:rPr>
              <a:t>BY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HOSIPTALS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1353312"/>
            <a:ext cx="5433059" cy="26609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78355" y="4172475"/>
            <a:ext cx="411924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A.7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clicking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look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clinics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nearby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hospital’s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52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1135380"/>
            <a:ext cx="6137147" cy="63276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53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9347" y="413461"/>
            <a:ext cx="31515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i="1" dirty="0">
                <a:latin typeface="Times New Roman"/>
                <a:cs typeface="Times New Roman"/>
              </a:rPr>
              <a:t>AI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based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tool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for</a:t>
            </a:r>
            <a:r>
              <a:rPr sz="850" i="1" spc="-1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preliminary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diagnosis</a:t>
            </a:r>
            <a:r>
              <a:rPr sz="850" i="1" spc="-2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3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dermatological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manifestations</a:t>
            </a:r>
            <a:endParaRPr sz="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427" y="906780"/>
            <a:ext cx="5602223" cy="50032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1005205" algn="r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54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850" i="1" spc="-10" dirty="0">
                <a:latin typeface="Arial"/>
                <a:cs typeface="Arial"/>
              </a:rPr>
              <a:t>Presidency</a:t>
            </a:r>
            <a:r>
              <a:rPr sz="850" i="1" spc="-3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school</a:t>
            </a:r>
            <a:r>
              <a:rPr sz="850" i="1" spc="-2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of</a:t>
            </a:r>
            <a:r>
              <a:rPr sz="850" i="1" spc="-5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computer</a:t>
            </a:r>
            <a:r>
              <a:rPr sz="850" i="1" spc="-40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science</a:t>
            </a:r>
            <a:r>
              <a:rPr sz="850" i="1" spc="-35" dirty="0">
                <a:latin typeface="Arial"/>
                <a:cs typeface="Arial"/>
              </a:rPr>
              <a:t> </a:t>
            </a:r>
            <a:r>
              <a:rPr sz="850" i="1" dirty="0">
                <a:latin typeface="Arial"/>
                <a:cs typeface="Arial"/>
              </a:rPr>
              <a:t>and</a:t>
            </a:r>
            <a:r>
              <a:rPr sz="850" i="1" spc="-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engineering,presidency</a:t>
            </a:r>
            <a:r>
              <a:rPr sz="850" i="1" spc="-15" dirty="0">
                <a:latin typeface="Arial"/>
                <a:cs typeface="Arial"/>
              </a:rPr>
              <a:t> </a:t>
            </a:r>
            <a:r>
              <a:rPr sz="850" i="1" spc="-10" dirty="0">
                <a:latin typeface="Arial"/>
                <a:cs typeface="Arial"/>
              </a:rPr>
              <a:t>university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12557</Words>
  <Application>Microsoft Office PowerPoint</Application>
  <PresentationFormat>Custom</PresentationFormat>
  <Paragraphs>867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- 282_report[1]</dc:title>
  <dc:creator>M Sidhardha</dc:creator>
  <cp:lastModifiedBy>Sree Vardhan</cp:lastModifiedBy>
  <cp:revision>1</cp:revision>
  <dcterms:created xsi:type="dcterms:W3CDTF">2025-12-03T15:02:59Z</dcterms:created>
  <dcterms:modified xsi:type="dcterms:W3CDTF">2025-12-03T15:11:36Z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LastSaved">
    <vt:filetime>2025-12-03T00:00:00Z</vt:filetime>
  </property>
  <property fmtid="{D5CDD505-2E9C-101B-9397-08002B2CF9AE}" pid="4" name="Producer">
    <vt:lpwstr>Microsoft: Print To PDF</vt:lpwstr>
  </property>
</Properties>
</file>